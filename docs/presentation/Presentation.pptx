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914400" y="1524000"/>
            <a:ext cx="14287500" cy="266700"/>
          </a:xfrm>
          <a:prstGeom prst="rect">
            <a:avLst/>
          </a:prstGeom>
          <a:noFill/>
        </p:spPr>
        <p:txBody>
          <a:bodyPr wrap="square" lIns="0" rIns="0" tIns="0" bIns="0" anchor="t">
            <a:spAutoFit/>
          </a:bodyPr>
          <a:lstStyle/>
          <a:p>
            <a:pPr algn="l"/>
            <a:r>
              <a:rPr sz="1000" b="1">
                <a:solidFill>
                  <a:srgbClr val="94A3B8"/>
                </a:solidFill>
                <a:latin typeface="JetBrains Mono"/>
              </a:rPr>
              <a:t>NEW YORK UNIVERSITY  •  DEPARTMENT OF COMPUTER SCIENCE  •  CLOUD COMPUTING  •  SPRING 2026</a:t>
            </a:r>
          </a:p>
        </p:txBody>
      </p:sp>
      <p:cxnSp>
        <p:nvCxnSpPr>
          <p:cNvPr id="3" name="Connector 2"/>
          <p:cNvCxnSpPr/>
          <p:nvPr/>
        </p:nvCxnSpPr>
        <p:spPr>
          <a:xfrm>
            <a:off x="914400" y="1905000"/>
            <a:ext cx="104775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2286000"/>
            <a:ext cx="16192500" cy="3429000"/>
          </a:xfrm>
          <a:prstGeom prst="rect">
            <a:avLst/>
          </a:prstGeom>
          <a:noFill/>
        </p:spPr>
        <p:txBody>
          <a:bodyPr wrap="square" lIns="0" rIns="0" tIns="0" bIns="0" anchor="t">
            <a:spAutoFit/>
          </a:bodyPr>
          <a:lstStyle/>
          <a:p>
            <a:pPr algn="l">
              <a:lnSpc>
                <a:spcPct val="96000"/>
              </a:lnSpc>
            </a:pPr>
            <a:r>
              <a:rPr sz="9200" b="0">
                <a:solidFill>
                  <a:srgbClr val="F1F5F9"/>
                </a:solidFill>
                <a:latin typeface="IBM Plex Serif"/>
              </a:rPr>
              <a:t>Research Paper
Summarizer.</a:t>
            </a:r>
          </a:p>
        </p:txBody>
      </p:sp>
      <p:sp>
        <p:nvSpPr>
          <p:cNvPr id="5" name="Rectangle 4"/>
          <p:cNvSpPr/>
          <p:nvPr/>
        </p:nvSpPr>
        <p:spPr>
          <a:xfrm>
            <a:off x="914400" y="5905500"/>
            <a:ext cx="1905000" cy="28575"/>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6286500"/>
            <a:ext cx="14287500" cy="2095500"/>
          </a:xfrm>
          <a:prstGeom prst="rect">
            <a:avLst/>
          </a:prstGeom>
          <a:noFill/>
        </p:spPr>
        <p:txBody>
          <a:bodyPr wrap="square" lIns="0" rIns="0" tIns="0" bIns="0" anchor="t">
            <a:spAutoFit/>
          </a:bodyPr>
          <a:lstStyle/>
          <a:p>
            <a:pPr algn="l">
              <a:lnSpc>
                <a:spcPct val="142000"/>
              </a:lnSpc>
            </a:pPr>
            <a:r>
              <a:rPr sz="2000" b="0">
                <a:solidFill>
                  <a:srgbClr val="CBD5E1"/>
                </a:solidFill>
                <a:latin typeface="Inter"/>
              </a:rPr>
              <a:t>A serverless, event-driven AWS platform that searches arXiv and Semantic Scholar, fetches full-text PDFs, and produces structured five-section summaries in roughly thirty seconds. Built end to end on managed services with zero idle cost.</a:t>
            </a:r>
          </a:p>
        </p:txBody>
      </p:sp>
      <p:cxnSp>
        <p:nvCxnSpPr>
          <p:cNvPr id="7" name="Connector 6"/>
          <p:cNvCxnSpPr/>
          <p:nvPr/>
        </p:nvCxnSpPr>
        <p:spPr>
          <a:xfrm>
            <a:off x="914400" y="8953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9144000"/>
            <a:ext cx="8572500" cy="762000"/>
          </a:xfrm>
          <a:prstGeom prst="rect">
            <a:avLst/>
          </a:prstGeom>
          <a:noFill/>
        </p:spPr>
        <p:txBody>
          <a:bodyPr wrap="square" lIns="0" rIns="0" tIns="0" bIns="0" anchor="t">
            <a:spAutoFit/>
          </a:bodyPr>
          <a:lstStyle/>
          <a:p>
            <a:pPr algn="l">
              <a:lnSpc>
                <a:spcPct val="140000"/>
              </a:lnSpc>
            </a:pPr>
            <a:r>
              <a:rPr sz="1500" b="1">
                <a:solidFill>
                  <a:srgbClr val="CBD5E1"/>
                </a:solidFill>
                <a:latin typeface="Inter"/>
              </a:rPr>
              <a:t>Pranjal Mishra  •  Yang Zheng  •  Shreyas Sankpal  •  Kerry Huang</a:t>
            </a:r>
          </a:p>
          <a:p>
            <a:pPr algn="l">
              <a:lnSpc>
                <a:spcPct val="140000"/>
              </a:lnSpc>
            </a:pPr>
            <a:r>
              <a:rPr sz="900" b="1">
                <a:solidFill>
                  <a:srgbClr val="64748B"/>
                </a:solidFill>
                <a:latin typeface="JetBrains Mono"/>
              </a:rPr>
              <a:t>FINAL PROJECT</a:t>
            </a:r>
          </a:p>
        </p:txBody>
      </p:sp>
      <p:sp>
        <p:nvSpPr>
          <p:cNvPr id="9" name="TextBox 8"/>
          <p:cNvSpPr txBox="1"/>
          <p:nvPr/>
        </p:nvSpPr>
        <p:spPr>
          <a:xfrm>
            <a:off x="8572500" y="9144000"/>
            <a:ext cx="8572500" cy="381000"/>
          </a:xfrm>
          <a:prstGeom prst="rect">
            <a:avLst/>
          </a:prstGeom>
          <a:noFill/>
        </p:spPr>
        <p:txBody>
          <a:bodyPr wrap="square" lIns="0" rIns="0" tIns="0" bIns="0" anchor="t">
            <a:spAutoFit/>
          </a:bodyPr>
          <a:lstStyle/>
          <a:p>
            <a:pPr algn="r"/>
            <a:r>
              <a:rPr sz="1200" b="1">
                <a:solidFill>
                  <a:srgbClr val="38BDF8"/>
                </a:solidFill>
                <a:latin typeface="JetBrains Mono"/>
              </a:rPr>
              <a:t>d24irdkbe9jj2b.cloudfront.net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I.  SYSTEM OVERVIEW</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01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00000"/>
              </a:lnSpc>
            </a:pPr>
            <a:r>
              <a:rPr sz="8200">
                <a:solidFill>
                  <a:srgbClr val="F1F5F9"/>
                </a:solidFill>
                <a:latin typeface="IBM Plex Serif"/>
              </a:rPr>
              <a:t>Triage is the bottleneck.</a:t>
            </a:r>
          </a:p>
        </p:txBody>
      </p:sp>
      <p:sp>
        <p:nvSpPr>
          <p:cNvPr id="9" name="TextBox 8"/>
          <p:cNvSpPr txBox="1"/>
          <p:nvPr/>
        </p:nvSpPr>
        <p:spPr>
          <a:xfrm>
            <a:off x="914400" y="2667000"/>
            <a:ext cx="14287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Search engines surface relevant titles. Citation graphs reveal influence. General-purpose chat assistants will summarize a paper if the user pastes it. None of these, alone, is a workflow.</a:t>
            </a:r>
          </a:p>
        </p:txBody>
      </p:sp>
      <p:cxnSp>
        <p:nvCxnSpPr>
          <p:cNvPr id="10" name="Connector 9"/>
          <p:cNvCxnSpPr/>
          <p:nvPr/>
        </p:nvCxnSpPr>
        <p:spPr>
          <a:xfrm>
            <a:off x="914400" y="4000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4286250"/>
            <a:ext cx="4000500" cy="1524000"/>
          </a:xfrm>
          <a:prstGeom prst="rect">
            <a:avLst/>
          </a:prstGeom>
          <a:noFill/>
        </p:spPr>
        <p:txBody>
          <a:bodyPr wrap="square" lIns="0" rIns="0" tIns="0" bIns="0" anchor="t">
            <a:spAutoFit/>
          </a:bodyPr>
          <a:lstStyle/>
          <a:p>
            <a:pPr algn="l">
              <a:lnSpc>
                <a:spcPct val="100000"/>
              </a:lnSpc>
            </a:pPr>
            <a:r>
              <a:rPr sz="8000">
                <a:solidFill>
                  <a:srgbClr val="38BDF8"/>
                </a:solidFill>
                <a:latin typeface="IBM Plex Serif"/>
              </a:rPr>
              <a:t>2.4M+</a:t>
            </a:r>
          </a:p>
        </p:txBody>
      </p:sp>
      <p:sp>
        <p:nvSpPr>
          <p:cNvPr id="12" name="TextBox 11"/>
          <p:cNvSpPr txBox="1"/>
          <p:nvPr/>
        </p:nvSpPr>
        <p:spPr>
          <a:xfrm>
            <a:off x="5143500" y="4476750"/>
            <a:ext cx="11811000" cy="1524000"/>
          </a:xfrm>
          <a:prstGeom prst="rect">
            <a:avLst/>
          </a:prstGeom>
          <a:noFill/>
        </p:spPr>
        <p:txBody>
          <a:bodyPr wrap="square" lIns="0" rIns="0" tIns="0" bIns="0" anchor="t">
            <a:spAutoFit/>
          </a:bodyPr>
          <a:lstStyle/>
          <a:p>
            <a:pPr algn="l">
              <a:lnSpc>
                <a:spcPct val="150000"/>
              </a:lnSpc>
            </a:pPr>
            <a:r>
              <a:rPr sz="1700" b="0">
                <a:solidFill>
                  <a:srgbClr val="CBD5E1"/>
                </a:solidFill>
                <a:latin typeface="Inter"/>
              </a:rPr>
              <a:t>preprints indexed by arXiv alone, doubling roughly every decade. The platform delivers three composable capabilities on one shared backbone of chunk vectors persisted in Amazon DynamoDB.</a:t>
            </a:r>
          </a:p>
        </p:txBody>
      </p:sp>
      <p:cxnSp>
        <p:nvCxnSpPr>
          <p:cNvPr id="13" name="Connector 12"/>
          <p:cNvCxnSpPr/>
          <p:nvPr/>
        </p:nvCxnSpPr>
        <p:spPr>
          <a:xfrm>
            <a:off x="914400" y="6286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04900" y="6667500"/>
            <a:ext cx="5105400" cy="266700"/>
          </a:xfrm>
          <a:prstGeom prst="rect">
            <a:avLst/>
          </a:prstGeom>
          <a:noFill/>
        </p:spPr>
        <p:txBody>
          <a:bodyPr wrap="square" lIns="0" rIns="0" tIns="0" bIns="0" anchor="t">
            <a:spAutoFit/>
          </a:bodyPr>
          <a:lstStyle/>
          <a:p>
            <a:pPr algn="l"/>
            <a:r>
              <a:rPr sz="1000" b="1">
                <a:solidFill>
                  <a:srgbClr val="38BDF8"/>
                </a:solidFill>
                <a:latin typeface="JetBrains Mono"/>
              </a:rPr>
              <a:t>01.  SEARCH</a:t>
            </a:r>
          </a:p>
        </p:txBody>
      </p:sp>
      <p:sp>
        <p:nvSpPr>
          <p:cNvPr id="15" name="TextBox 14"/>
          <p:cNvSpPr txBox="1"/>
          <p:nvPr/>
        </p:nvSpPr>
        <p:spPr>
          <a:xfrm>
            <a:off x="1104900" y="6953250"/>
            <a:ext cx="5105400" cy="476250"/>
          </a:xfrm>
          <a:prstGeom prst="rect">
            <a:avLst/>
          </a:prstGeom>
          <a:noFill/>
        </p:spPr>
        <p:txBody>
          <a:bodyPr wrap="square" lIns="0" rIns="0" tIns="0" bIns="0" anchor="t">
            <a:spAutoFit/>
          </a:bodyPr>
          <a:lstStyle/>
          <a:p>
            <a:pPr algn="l">
              <a:lnSpc>
                <a:spcPct val="118000"/>
              </a:lnSpc>
            </a:pPr>
            <a:r>
              <a:rPr sz="2000">
                <a:solidFill>
                  <a:srgbClr val="F1F5F9"/>
                </a:solidFill>
                <a:latin typeface="IBM Plex Serif"/>
              </a:rPr>
              <a:t>Multi-source ranked search.</a:t>
            </a:r>
          </a:p>
        </p:txBody>
      </p:sp>
      <p:sp>
        <p:nvSpPr>
          <p:cNvPr id="16" name="TextBox 15"/>
          <p:cNvSpPr txBox="1"/>
          <p:nvPr/>
        </p:nvSpPr>
        <p:spPr>
          <a:xfrm>
            <a:off x="1104900" y="7620000"/>
            <a:ext cx="5105400" cy="152400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arXiv and Semantic Scholar invoked in parallel from a single Lambda; results deduplicated by arxivId, DOI, and normalized title in one to two seconds end to end.</a:t>
            </a:r>
          </a:p>
        </p:txBody>
      </p:sp>
      <p:cxnSp>
        <p:nvCxnSpPr>
          <p:cNvPr id="17" name="Connector 16"/>
          <p:cNvCxnSpPr/>
          <p:nvPr/>
        </p:nvCxnSpPr>
        <p:spPr>
          <a:xfrm>
            <a:off x="6400800" y="6477000"/>
            <a:ext cx="0" cy="2476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91300" y="6667500"/>
            <a:ext cx="5105400" cy="266700"/>
          </a:xfrm>
          <a:prstGeom prst="rect">
            <a:avLst/>
          </a:prstGeom>
          <a:noFill/>
        </p:spPr>
        <p:txBody>
          <a:bodyPr wrap="square" lIns="0" rIns="0" tIns="0" bIns="0" anchor="t">
            <a:spAutoFit/>
          </a:bodyPr>
          <a:lstStyle/>
          <a:p>
            <a:pPr algn="l"/>
            <a:r>
              <a:rPr sz="1000" b="1">
                <a:solidFill>
                  <a:srgbClr val="38BDF8"/>
                </a:solidFill>
                <a:latin typeface="JetBrains Mono"/>
              </a:rPr>
              <a:t>02.  SUMMARIZE</a:t>
            </a:r>
          </a:p>
        </p:txBody>
      </p:sp>
      <p:sp>
        <p:nvSpPr>
          <p:cNvPr id="19" name="TextBox 18"/>
          <p:cNvSpPr txBox="1"/>
          <p:nvPr/>
        </p:nvSpPr>
        <p:spPr>
          <a:xfrm>
            <a:off x="6591300" y="6953250"/>
            <a:ext cx="5105400" cy="476250"/>
          </a:xfrm>
          <a:prstGeom prst="rect">
            <a:avLst/>
          </a:prstGeom>
          <a:noFill/>
        </p:spPr>
        <p:txBody>
          <a:bodyPr wrap="square" lIns="0" rIns="0" tIns="0" bIns="0" anchor="t">
            <a:spAutoFit/>
          </a:bodyPr>
          <a:lstStyle/>
          <a:p>
            <a:pPr algn="l">
              <a:lnSpc>
                <a:spcPct val="118000"/>
              </a:lnSpc>
            </a:pPr>
            <a:r>
              <a:rPr sz="2000">
                <a:solidFill>
                  <a:srgbClr val="F1F5F9"/>
                </a:solidFill>
                <a:latin typeface="IBM Plex Serif"/>
              </a:rPr>
              <a:t>Asynchronous five-section summary.</a:t>
            </a:r>
          </a:p>
        </p:txBody>
      </p:sp>
      <p:sp>
        <p:nvSpPr>
          <p:cNvPr id="20" name="TextBox 19"/>
          <p:cNvSpPr txBox="1"/>
          <p:nvPr/>
        </p:nvSpPr>
        <p:spPr>
          <a:xfrm>
            <a:off x="6591300" y="7620000"/>
            <a:ext cx="5105400" cy="152400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Objectives, methodology, results, limitations, contributions. SQS-triggered Step Functions map-reduce. Done in roughly thirty seconds for a typical paper.</a:t>
            </a:r>
          </a:p>
        </p:txBody>
      </p:sp>
      <p:cxnSp>
        <p:nvCxnSpPr>
          <p:cNvPr id="21" name="Connector 20"/>
          <p:cNvCxnSpPr/>
          <p:nvPr/>
        </p:nvCxnSpPr>
        <p:spPr>
          <a:xfrm>
            <a:off x="11887200" y="6477000"/>
            <a:ext cx="0" cy="2476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077700" y="6667500"/>
            <a:ext cx="5105400" cy="266700"/>
          </a:xfrm>
          <a:prstGeom prst="rect">
            <a:avLst/>
          </a:prstGeom>
          <a:noFill/>
        </p:spPr>
        <p:txBody>
          <a:bodyPr wrap="square" lIns="0" rIns="0" tIns="0" bIns="0" anchor="t">
            <a:spAutoFit/>
          </a:bodyPr>
          <a:lstStyle/>
          <a:p>
            <a:pPr algn="l"/>
            <a:r>
              <a:rPr sz="1000" b="1">
                <a:solidFill>
                  <a:srgbClr val="38BDF8"/>
                </a:solidFill>
                <a:latin typeface="JetBrains Mono"/>
              </a:rPr>
              <a:t>03.  GROUND</a:t>
            </a:r>
          </a:p>
        </p:txBody>
      </p:sp>
      <p:sp>
        <p:nvSpPr>
          <p:cNvPr id="23" name="TextBox 22"/>
          <p:cNvSpPr txBox="1"/>
          <p:nvPr/>
        </p:nvSpPr>
        <p:spPr>
          <a:xfrm>
            <a:off x="12077700" y="6953250"/>
            <a:ext cx="5105400" cy="476250"/>
          </a:xfrm>
          <a:prstGeom prst="rect">
            <a:avLst/>
          </a:prstGeom>
          <a:noFill/>
        </p:spPr>
        <p:txBody>
          <a:bodyPr wrap="square" lIns="0" rIns="0" tIns="0" bIns="0" anchor="t">
            <a:spAutoFit/>
          </a:bodyPr>
          <a:lstStyle/>
          <a:p>
            <a:pPr algn="l">
              <a:lnSpc>
                <a:spcPct val="118000"/>
              </a:lnSpc>
            </a:pPr>
            <a:r>
              <a:rPr sz="2000">
                <a:solidFill>
                  <a:srgbClr val="F1F5F9"/>
                </a:solidFill>
                <a:latin typeface="IBM Plex Serif"/>
              </a:rPr>
              <a:t>Retrieval-augmented features.</a:t>
            </a:r>
          </a:p>
        </p:txBody>
      </p:sp>
      <p:sp>
        <p:nvSpPr>
          <p:cNvPr id="24" name="TextBox 23"/>
          <p:cNvSpPr txBox="1"/>
          <p:nvPr/>
        </p:nvSpPr>
        <p:spPr>
          <a:xfrm>
            <a:off x="12077700" y="7620000"/>
            <a:ext cx="5105400" cy="152400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Talk-to-PDF chat with cited chunks, related-papers ranking by cosine similarity, and a typed knowledge graph; all from the embeddings the pipeline already wrote.</a:t>
            </a:r>
          </a:p>
        </p:txBody>
      </p:sp>
      <p:cxnSp>
        <p:nvCxnSpPr>
          <p:cNvPr id="25" name="Connector 24"/>
          <p:cNvCxnSpPr/>
          <p:nvPr/>
        </p:nvCxnSpPr>
        <p:spPr>
          <a:xfrm>
            <a:off x="914400" y="8953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II.  ARCHITECTURE</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02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Fifteen single-purpose Lambdas, six CDK stacks, three managed data stores.</a:t>
            </a:r>
          </a:p>
        </p:txBody>
      </p:sp>
      <p:sp>
        <p:nvSpPr>
          <p:cNvPr id="9" name="TextBox 8"/>
          <p:cNvSpPr txBox="1"/>
          <p:nvPr/>
        </p:nvSpPr>
        <p:spPr>
          <a:xfrm>
            <a:off x="914400" y="2667000"/>
            <a:ext cx="16192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Inter-service communication restricted to API Gateway, Amazon SQS, AWS Step Functions, and Amazon DynamoDB. No Lambda directly invokes another Lambda.</a:t>
            </a:r>
          </a:p>
        </p:txBody>
      </p:sp>
      <p:sp>
        <p:nvSpPr>
          <p:cNvPr id="10" name="Rectangle 9"/>
          <p:cNvSpPr/>
          <p:nvPr/>
        </p:nvSpPr>
        <p:spPr>
          <a:xfrm>
            <a:off x="4524375" y="3810000"/>
            <a:ext cx="9229725" cy="5524500"/>
          </a:xfrm>
          <a:prstGeom prst="rect">
            <a:avLst/>
          </a:prstGeom>
          <a:solidFill>
            <a:srgbClr val="F8FAFC"/>
          </a:solid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rchitecture.png"/>
          <p:cNvPicPr>
            <a:picLocks noChangeAspect="1"/>
          </p:cNvPicPr>
          <p:nvPr/>
        </p:nvPicPr>
        <p:blipFill>
          <a:blip r:embed="rId2"/>
          <a:stretch>
            <a:fillRect/>
          </a:stretch>
        </p:blipFill>
        <p:spPr>
          <a:xfrm>
            <a:off x="4791075" y="4076700"/>
            <a:ext cx="8696325" cy="49911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III.  ASYNCHRONOUS DATA PIPELINE</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03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Why a state machine, not one large Lambda.</a:t>
            </a:r>
          </a:p>
        </p:txBody>
      </p:sp>
      <p:sp>
        <p:nvSpPr>
          <p:cNvPr id="9" name="TextBox 8"/>
          <p:cNvSpPr txBox="1"/>
          <p:nvPr/>
        </p:nvSpPr>
        <p:spPr>
          <a:xfrm>
            <a:off x="914400" y="2190750"/>
            <a:ext cx="16192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Map-reduce summarization is the hot path. The five-stage AWS Step Functions execution sidesteps the Lambda fifteen-minute ceiling, isolates per-chunk failures, and keeps state inputs under the 256 KB limit.</a:t>
            </a:r>
          </a:p>
        </p:txBody>
      </p:sp>
      <p:cxnSp>
        <p:nvCxnSpPr>
          <p:cNvPr id="10" name="Connector 9"/>
          <p:cNvCxnSpPr/>
          <p:nvPr/>
        </p:nvCxnSpPr>
        <p:spPr>
          <a:xfrm>
            <a:off x="914400" y="352425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04900" y="3905250"/>
            <a:ext cx="2905125" cy="266700"/>
          </a:xfrm>
          <a:prstGeom prst="rect">
            <a:avLst/>
          </a:prstGeom>
          <a:noFill/>
        </p:spPr>
        <p:txBody>
          <a:bodyPr wrap="square" lIns="0" rIns="0" tIns="0" bIns="0" anchor="t">
            <a:spAutoFit/>
          </a:bodyPr>
          <a:lstStyle/>
          <a:p>
            <a:pPr algn="l"/>
            <a:r>
              <a:rPr sz="900" b="1">
                <a:solidFill>
                  <a:srgbClr val="64748B"/>
                </a:solidFill>
                <a:latin typeface="JetBrains Mono"/>
              </a:rPr>
              <a:t>STAGE 1</a:t>
            </a:r>
          </a:p>
        </p:txBody>
      </p:sp>
      <p:sp>
        <p:nvSpPr>
          <p:cNvPr id="12" name="TextBox 11"/>
          <p:cNvSpPr txBox="1"/>
          <p:nvPr/>
        </p:nvSpPr>
        <p:spPr>
          <a:xfrm>
            <a:off x="1104900" y="4210050"/>
            <a:ext cx="2905125" cy="457200"/>
          </a:xfrm>
          <a:prstGeom prst="rect">
            <a:avLst/>
          </a:prstGeom>
          <a:noFill/>
        </p:spPr>
        <p:txBody>
          <a:bodyPr wrap="square" lIns="0" rIns="0" tIns="0" bIns="0" anchor="t">
            <a:spAutoFit/>
          </a:bodyPr>
          <a:lstStyle/>
          <a:p>
            <a:pPr algn="l">
              <a:lnSpc>
                <a:spcPct val="110000"/>
              </a:lnSpc>
            </a:pPr>
            <a:r>
              <a:rPr sz="2200">
                <a:solidFill>
                  <a:srgbClr val="F1F5F9"/>
                </a:solidFill>
                <a:latin typeface="IBM Plex Serif"/>
              </a:rPr>
              <a:t>FetchPDF</a:t>
            </a:r>
          </a:p>
        </p:txBody>
      </p:sp>
      <p:sp>
        <p:nvSpPr>
          <p:cNvPr id="13" name="TextBox 12"/>
          <p:cNvSpPr txBox="1"/>
          <p:nvPr/>
        </p:nvSpPr>
        <p:spPr>
          <a:xfrm>
            <a:off x="1104900" y="4648200"/>
            <a:ext cx="2905125" cy="571500"/>
          </a:xfrm>
          <a:prstGeom prst="rect">
            <a:avLst/>
          </a:prstGeom>
          <a:noFill/>
        </p:spPr>
        <p:txBody>
          <a:bodyPr wrap="square" lIns="0" rIns="0" tIns="0" bIns="0" anchor="t">
            <a:spAutoFit/>
          </a:bodyPr>
          <a:lstStyle/>
          <a:p>
            <a:pPr algn="l">
              <a:lnSpc>
                <a:spcPct val="140000"/>
              </a:lnSpc>
            </a:pPr>
            <a:r>
              <a:rPr sz="1100" b="0">
                <a:solidFill>
                  <a:srgbClr val="94A3B8"/>
                </a:solidFill>
                <a:latin typeface="Inter"/>
              </a:rPr>
              <a:t>S3-cached</a:t>
            </a:r>
          </a:p>
        </p:txBody>
      </p:sp>
      <p:cxnSp>
        <p:nvCxnSpPr>
          <p:cNvPr id="14" name="Connector 13"/>
          <p:cNvCxnSpPr/>
          <p:nvPr/>
        </p:nvCxnSpPr>
        <p:spPr>
          <a:xfrm>
            <a:off x="4200525" y="3714750"/>
            <a:ext cx="0" cy="161925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91025" y="3905250"/>
            <a:ext cx="2905125" cy="266700"/>
          </a:xfrm>
          <a:prstGeom prst="rect">
            <a:avLst/>
          </a:prstGeom>
          <a:noFill/>
        </p:spPr>
        <p:txBody>
          <a:bodyPr wrap="square" lIns="0" rIns="0" tIns="0" bIns="0" anchor="t">
            <a:spAutoFit/>
          </a:bodyPr>
          <a:lstStyle/>
          <a:p>
            <a:pPr algn="l"/>
            <a:r>
              <a:rPr sz="900" b="1">
                <a:solidFill>
                  <a:srgbClr val="64748B"/>
                </a:solidFill>
                <a:latin typeface="JetBrains Mono"/>
              </a:rPr>
              <a:t>STAGE 2</a:t>
            </a:r>
          </a:p>
        </p:txBody>
      </p:sp>
      <p:sp>
        <p:nvSpPr>
          <p:cNvPr id="16" name="TextBox 15"/>
          <p:cNvSpPr txBox="1"/>
          <p:nvPr/>
        </p:nvSpPr>
        <p:spPr>
          <a:xfrm>
            <a:off x="4391025" y="4210050"/>
            <a:ext cx="2905125" cy="457200"/>
          </a:xfrm>
          <a:prstGeom prst="rect">
            <a:avLst/>
          </a:prstGeom>
          <a:noFill/>
        </p:spPr>
        <p:txBody>
          <a:bodyPr wrap="square" lIns="0" rIns="0" tIns="0" bIns="0" anchor="t">
            <a:spAutoFit/>
          </a:bodyPr>
          <a:lstStyle/>
          <a:p>
            <a:pPr algn="l">
              <a:lnSpc>
                <a:spcPct val="110000"/>
              </a:lnSpc>
            </a:pPr>
            <a:r>
              <a:rPr sz="2200">
                <a:solidFill>
                  <a:srgbClr val="F1F5F9"/>
                </a:solidFill>
                <a:latin typeface="IBM Plex Serif"/>
              </a:rPr>
              <a:t>ExtractText</a:t>
            </a:r>
          </a:p>
        </p:txBody>
      </p:sp>
      <p:sp>
        <p:nvSpPr>
          <p:cNvPr id="17" name="TextBox 16"/>
          <p:cNvSpPr txBox="1"/>
          <p:nvPr/>
        </p:nvSpPr>
        <p:spPr>
          <a:xfrm>
            <a:off x="4391025" y="4648200"/>
            <a:ext cx="2905125" cy="571500"/>
          </a:xfrm>
          <a:prstGeom prst="rect">
            <a:avLst/>
          </a:prstGeom>
          <a:noFill/>
        </p:spPr>
        <p:txBody>
          <a:bodyPr wrap="square" lIns="0" rIns="0" tIns="0" bIns="0" anchor="t">
            <a:spAutoFit/>
          </a:bodyPr>
          <a:lstStyle/>
          <a:p>
            <a:pPr algn="l">
              <a:lnSpc>
                <a:spcPct val="140000"/>
              </a:lnSpc>
            </a:pPr>
            <a:r>
              <a:rPr sz="1100" b="0">
                <a:solidFill>
                  <a:srgbClr val="94A3B8"/>
                </a:solidFill>
                <a:latin typeface="Inter"/>
              </a:rPr>
              <a:t>pdf-parse</a:t>
            </a:r>
          </a:p>
        </p:txBody>
      </p:sp>
      <p:cxnSp>
        <p:nvCxnSpPr>
          <p:cNvPr id="18" name="Connector 17"/>
          <p:cNvCxnSpPr/>
          <p:nvPr/>
        </p:nvCxnSpPr>
        <p:spPr>
          <a:xfrm>
            <a:off x="7486650" y="3714750"/>
            <a:ext cx="0" cy="161925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677150" y="3905250"/>
            <a:ext cx="2905125" cy="266700"/>
          </a:xfrm>
          <a:prstGeom prst="rect">
            <a:avLst/>
          </a:prstGeom>
          <a:noFill/>
        </p:spPr>
        <p:txBody>
          <a:bodyPr wrap="square" lIns="0" rIns="0" tIns="0" bIns="0" anchor="t">
            <a:spAutoFit/>
          </a:bodyPr>
          <a:lstStyle/>
          <a:p>
            <a:pPr algn="l"/>
            <a:r>
              <a:rPr sz="900" b="1">
                <a:solidFill>
                  <a:srgbClr val="64748B"/>
                </a:solidFill>
                <a:latin typeface="JetBrains Mono"/>
              </a:rPr>
              <a:t>STAGE 3</a:t>
            </a:r>
          </a:p>
        </p:txBody>
      </p:sp>
      <p:sp>
        <p:nvSpPr>
          <p:cNvPr id="20" name="TextBox 19"/>
          <p:cNvSpPr txBox="1"/>
          <p:nvPr/>
        </p:nvSpPr>
        <p:spPr>
          <a:xfrm>
            <a:off x="7677150" y="4210050"/>
            <a:ext cx="2905125" cy="457200"/>
          </a:xfrm>
          <a:prstGeom prst="rect">
            <a:avLst/>
          </a:prstGeom>
          <a:noFill/>
        </p:spPr>
        <p:txBody>
          <a:bodyPr wrap="square" lIns="0" rIns="0" tIns="0" bIns="0" anchor="t">
            <a:spAutoFit/>
          </a:bodyPr>
          <a:lstStyle/>
          <a:p>
            <a:pPr algn="l">
              <a:lnSpc>
                <a:spcPct val="110000"/>
              </a:lnSpc>
            </a:pPr>
            <a:r>
              <a:rPr sz="2200">
                <a:solidFill>
                  <a:srgbClr val="F1F5F9"/>
                </a:solidFill>
                <a:latin typeface="IBM Plex Serif"/>
              </a:rPr>
              <a:t>Chunk + Embed</a:t>
            </a:r>
          </a:p>
        </p:txBody>
      </p:sp>
      <p:sp>
        <p:nvSpPr>
          <p:cNvPr id="21" name="TextBox 20"/>
          <p:cNvSpPr txBox="1"/>
          <p:nvPr/>
        </p:nvSpPr>
        <p:spPr>
          <a:xfrm>
            <a:off x="7677150" y="4648200"/>
            <a:ext cx="2905125" cy="571500"/>
          </a:xfrm>
          <a:prstGeom prst="rect">
            <a:avLst/>
          </a:prstGeom>
          <a:noFill/>
        </p:spPr>
        <p:txBody>
          <a:bodyPr wrap="square" lIns="0" rIns="0" tIns="0" bIns="0" anchor="t">
            <a:spAutoFit/>
          </a:bodyPr>
          <a:lstStyle/>
          <a:p>
            <a:pPr algn="l">
              <a:lnSpc>
                <a:spcPct val="140000"/>
              </a:lnSpc>
            </a:pPr>
            <a:r>
              <a:rPr sz="1100" b="0">
                <a:solidFill>
                  <a:srgbClr val="94A3B8"/>
                </a:solidFill>
                <a:latin typeface="Inter"/>
              </a:rPr>
              <a:t>~1500 tok / chunk, 400 char overlap</a:t>
            </a:r>
          </a:p>
        </p:txBody>
      </p:sp>
      <p:cxnSp>
        <p:nvCxnSpPr>
          <p:cNvPr id="22" name="Connector 21"/>
          <p:cNvCxnSpPr/>
          <p:nvPr/>
        </p:nvCxnSpPr>
        <p:spPr>
          <a:xfrm>
            <a:off x="10772775" y="3714750"/>
            <a:ext cx="0" cy="161925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963275" y="3905250"/>
            <a:ext cx="2905125" cy="266700"/>
          </a:xfrm>
          <a:prstGeom prst="rect">
            <a:avLst/>
          </a:prstGeom>
          <a:noFill/>
        </p:spPr>
        <p:txBody>
          <a:bodyPr wrap="square" lIns="0" rIns="0" tIns="0" bIns="0" anchor="t">
            <a:spAutoFit/>
          </a:bodyPr>
          <a:lstStyle/>
          <a:p>
            <a:pPr algn="l"/>
            <a:r>
              <a:rPr sz="900" b="1">
                <a:solidFill>
                  <a:srgbClr val="38BDF8"/>
                </a:solidFill>
                <a:latin typeface="JetBrains Mono"/>
              </a:rPr>
              <a:t>STAGE 4 · MAP</a:t>
            </a:r>
          </a:p>
        </p:txBody>
      </p:sp>
      <p:sp>
        <p:nvSpPr>
          <p:cNvPr id="24" name="TextBox 23"/>
          <p:cNvSpPr txBox="1"/>
          <p:nvPr/>
        </p:nvSpPr>
        <p:spPr>
          <a:xfrm>
            <a:off x="10963275" y="4210050"/>
            <a:ext cx="2905125" cy="457200"/>
          </a:xfrm>
          <a:prstGeom prst="rect">
            <a:avLst/>
          </a:prstGeom>
          <a:noFill/>
        </p:spPr>
        <p:txBody>
          <a:bodyPr wrap="square" lIns="0" rIns="0" tIns="0" bIns="0" anchor="t">
            <a:spAutoFit/>
          </a:bodyPr>
          <a:lstStyle/>
          <a:p>
            <a:pPr algn="l">
              <a:lnSpc>
                <a:spcPct val="110000"/>
              </a:lnSpc>
            </a:pPr>
            <a:r>
              <a:rPr sz="2200">
                <a:solidFill>
                  <a:srgbClr val="38BDF8"/>
                </a:solidFill>
                <a:latin typeface="IBM Plex Serif"/>
              </a:rPr>
              <a:t>MapSummarize</a:t>
            </a:r>
          </a:p>
        </p:txBody>
      </p:sp>
      <p:sp>
        <p:nvSpPr>
          <p:cNvPr id="25" name="TextBox 24"/>
          <p:cNvSpPr txBox="1"/>
          <p:nvPr/>
        </p:nvSpPr>
        <p:spPr>
          <a:xfrm>
            <a:off x="10963275" y="4648200"/>
            <a:ext cx="2905125" cy="571500"/>
          </a:xfrm>
          <a:prstGeom prst="rect">
            <a:avLst/>
          </a:prstGeom>
          <a:noFill/>
        </p:spPr>
        <p:txBody>
          <a:bodyPr wrap="square" lIns="0" rIns="0" tIns="0" bIns="0" anchor="t">
            <a:spAutoFit/>
          </a:bodyPr>
          <a:lstStyle/>
          <a:p>
            <a:pPr algn="l">
              <a:lnSpc>
                <a:spcPct val="140000"/>
              </a:lnSpc>
            </a:pPr>
            <a:r>
              <a:rPr sz="1100" b="0">
                <a:solidFill>
                  <a:srgbClr val="94A3B8"/>
                </a:solidFill>
                <a:latin typeface="Inter"/>
              </a:rPr>
              <a:t>parallel, capped at 5</a:t>
            </a:r>
          </a:p>
        </p:txBody>
      </p:sp>
      <p:cxnSp>
        <p:nvCxnSpPr>
          <p:cNvPr id="26" name="Connector 25"/>
          <p:cNvCxnSpPr/>
          <p:nvPr/>
        </p:nvCxnSpPr>
        <p:spPr>
          <a:xfrm>
            <a:off x="14058900" y="3714750"/>
            <a:ext cx="0" cy="161925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4249400" y="3905250"/>
            <a:ext cx="2905125" cy="266700"/>
          </a:xfrm>
          <a:prstGeom prst="rect">
            <a:avLst/>
          </a:prstGeom>
          <a:noFill/>
        </p:spPr>
        <p:txBody>
          <a:bodyPr wrap="square" lIns="0" rIns="0" tIns="0" bIns="0" anchor="t">
            <a:spAutoFit/>
          </a:bodyPr>
          <a:lstStyle/>
          <a:p>
            <a:pPr algn="l"/>
            <a:r>
              <a:rPr sz="900" b="1">
                <a:solidFill>
                  <a:srgbClr val="64748B"/>
                </a:solidFill>
                <a:latin typeface="JetBrains Mono"/>
              </a:rPr>
              <a:t>STAGE 5</a:t>
            </a:r>
          </a:p>
        </p:txBody>
      </p:sp>
      <p:sp>
        <p:nvSpPr>
          <p:cNvPr id="28" name="TextBox 27"/>
          <p:cNvSpPr txBox="1"/>
          <p:nvPr/>
        </p:nvSpPr>
        <p:spPr>
          <a:xfrm>
            <a:off x="14249400" y="4210050"/>
            <a:ext cx="2905125" cy="457200"/>
          </a:xfrm>
          <a:prstGeom prst="rect">
            <a:avLst/>
          </a:prstGeom>
          <a:noFill/>
        </p:spPr>
        <p:txBody>
          <a:bodyPr wrap="square" lIns="0" rIns="0" tIns="0" bIns="0" anchor="t">
            <a:spAutoFit/>
          </a:bodyPr>
          <a:lstStyle/>
          <a:p>
            <a:pPr algn="l">
              <a:lnSpc>
                <a:spcPct val="110000"/>
              </a:lnSpc>
            </a:pPr>
            <a:r>
              <a:rPr sz="2200">
                <a:solidFill>
                  <a:srgbClr val="F1F5F9"/>
                </a:solidFill>
                <a:latin typeface="IBM Plex Serif"/>
              </a:rPr>
              <a:t>ReduceSummary</a:t>
            </a:r>
          </a:p>
        </p:txBody>
      </p:sp>
      <p:sp>
        <p:nvSpPr>
          <p:cNvPr id="29" name="TextBox 28"/>
          <p:cNvSpPr txBox="1"/>
          <p:nvPr/>
        </p:nvSpPr>
        <p:spPr>
          <a:xfrm>
            <a:off x="14249400" y="4648200"/>
            <a:ext cx="2905125" cy="571500"/>
          </a:xfrm>
          <a:prstGeom prst="rect">
            <a:avLst/>
          </a:prstGeom>
          <a:noFill/>
        </p:spPr>
        <p:txBody>
          <a:bodyPr wrap="square" lIns="0" rIns="0" tIns="0" bIns="0" anchor="t">
            <a:spAutoFit/>
          </a:bodyPr>
          <a:lstStyle/>
          <a:p>
            <a:pPr algn="l">
              <a:lnSpc>
                <a:spcPct val="140000"/>
              </a:lnSpc>
            </a:pPr>
            <a:r>
              <a:rPr sz="1100" b="0">
                <a:solidFill>
                  <a:srgbClr val="94A3B8"/>
                </a:solidFill>
                <a:latin typeface="Inter"/>
              </a:rPr>
              <a:t>DynamoDB write</a:t>
            </a:r>
          </a:p>
        </p:txBody>
      </p:sp>
      <p:cxnSp>
        <p:nvCxnSpPr>
          <p:cNvPr id="30" name="Connector 29"/>
          <p:cNvCxnSpPr/>
          <p:nvPr/>
        </p:nvCxnSpPr>
        <p:spPr>
          <a:xfrm>
            <a:off x="914400" y="53340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4400" y="6286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04900" y="6667500"/>
            <a:ext cx="5105400" cy="476250"/>
          </a:xfrm>
          <a:prstGeom prst="rect">
            <a:avLst/>
          </a:prstGeom>
          <a:noFill/>
        </p:spPr>
        <p:txBody>
          <a:bodyPr wrap="square" lIns="0" rIns="0" tIns="0" bIns="0" anchor="t">
            <a:spAutoFit/>
          </a:bodyPr>
          <a:lstStyle/>
          <a:p>
            <a:pPr algn="l">
              <a:lnSpc>
                <a:spcPct val="118000"/>
              </a:lnSpc>
            </a:pPr>
            <a:r>
              <a:rPr sz="1500" b="1">
                <a:solidFill>
                  <a:srgbClr val="F1F5F9"/>
                </a:solidFill>
                <a:latin typeface="Inter"/>
              </a:rPr>
              <a:t>Past the fifteen-minute Lambda ceiling.</a:t>
            </a:r>
          </a:p>
        </p:txBody>
      </p:sp>
      <p:sp>
        <p:nvSpPr>
          <p:cNvPr id="33" name="TextBox 32"/>
          <p:cNvSpPr txBox="1"/>
          <p:nvPr/>
        </p:nvSpPr>
        <p:spPr>
          <a:xfrm>
            <a:off x="1104900" y="7239000"/>
            <a:ext cx="5105400" cy="152400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A thirty-page paper, twelve parallel chunks, plus reduction can blow past it. Step Functions has no such limit; long-running orchestration becomes free.</a:t>
            </a:r>
          </a:p>
        </p:txBody>
      </p:sp>
      <p:cxnSp>
        <p:nvCxnSpPr>
          <p:cNvPr id="34" name="Connector 33"/>
          <p:cNvCxnSpPr/>
          <p:nvPr/>
        </p:nvCxnSpPr>
        <p:spPr>
          <a:xfrm>
            <a:off x="6400800" y="6477000"/>
            <a:ext cx="0" cy="2095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91300" y="6667500"/>
            <a:ext cx="5105400" cy="476250"/>
          </a:xfrm>
          <a:prstGeom prst="rect">
            <a:avLst/>
          </a:prstGeom>
          <a:noFill/>
        </p:spPr>
        <p:txBody>
          <a:bodyPr wrap="square" lIns="0" rIns="0" tIns="0" bIns="0" anchor="t">
            <a:spAutoFit/>
          </a:bodyPr>
          <a:lstStyle/>
          <a:p>
            <a:pPr algn="l">
              <a:lnSpc>
                <a:spcPct val="118000"/>
              </a:lnSpc>
            </a:pPr>
            <a:r>
              <a:rPr sz="1500" b="1">
                <a:solidFill>
                  <a:srgbClr val="F1F5F9"/>
                </a:solidFill>
                <a:latin typeface="Inter"/>
              </a:rPr>
              <a:t>Per-chunk retry, not per-job.</a:t>
            </a:r>
          </a:p>
        </p:txBody>
      </p:sp>
      <p:sp>
        <p:nvSpPr>
          <p:cNvPr id="36" name="TextBox 35"/>
          <p:cNvSpPr txBox="1"/>
          <p:nvPr/>
        </p:nvSpPr>
        <p:spPr>
          <a:xfrm>
            <a:off x="6591300" y="7239000"/>
            <a:ext cx="5105400" cy="152400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If one Bedrock call is throttled, that chunk retries with exponential backoff. The other eleven succeed once, and exactly once. No duplicate work, no whole-job redo.</a:t>
            </a:r>
          </a:p>
        </p:txBody>
      </p:sp>
      <p:cxnSp>
        <p:nvCxnSpPr>
          <p:cNvPr id="37" name="Connector 36"/>
          <p:cNvCxnSpPr/>
          <p:nvPr/>
        </p:nvCxnSpPr>
        <p:spPr>
          <a:xfrm>
            <a:off x="11887200" y="6477000"/>
            <a:ext cx="0" cy="2095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077700" y="6667500"/>
            <a:ext cx="5105400" cy="476250"/>
          </a:xfrm>
          <a:prstGeom prst="rect">
            <a:avLst/>
          </a:prstGeom>
          <a:noFill/>
        </p:spPr>
        <p:txBody>
          <a:bodyPr wrap="square" lIns="0" rIns="0" tIns="0" bIns="0" anchor="t">
            <a:spAutoFit/>
          </a:bodyPr>
          <a:lstStyle/>
          <a:p>
            <a:pPr algn="l">
              <a:lnSpc>
                <a:spcPct val="118000"/>
              </a:lnSpc>
            </a:pPr>
            <a:r>
              <a:rPr sz="1500" b="1">
                <a:solidFill>
                  <a:srgbClr val="F1F5F9"/>
                </a:solidFill>
                <a:latin typeface="Inter"/>
              </a:rPr>
              <a:t>S3 keys, not text, in state.</a:t>
            </a:r>
          </a:p>
        </p:txBody>
      </p:sp>
      <p:sp>
        <p:nvSpPr>
          <p:cNvPr id="39" name="TextBox 38"/>
          <p:cNvSpPr txBox="1"/>
          <p:nvPr/>
        </p:nvSpPr>
        <p:spPr>
          <a:xfrm>
            <a:off x="12077700" y="7239000"/>
            <a:ext cx="5105400" cy="152400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Step Functions caps state inputs at 256 KB. Heavy data (PDFs, extracted text, chunks, embeddings) lives in S3. We thread only S3 keys, never bytes.</a:t>
            </a:r>
          </a:p>
        </p:txBody>
      </p:sp>
      <p:cxnSp>
        <p:nvCxnSpPr>
          <p:cNvPr id="40" name="Connector 39"/>
          <p:cNvCxnSpPr/>
          <p:nvPr/>
        </p:nvCxnSpPr>
        <p:spPr>
          <a:xfrm>
            <a:off x="914400" y="8572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IV.  DATA LAYER · SINGLE-TABLE DESIGN</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04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One DynamoDB table. One global secondary index. Every access pattern.</a:t>
            </a:r>
          </a:p>
        </p:txBody>
      </p:sp>
      <p:sp>
        <p:nvSpPr>
          <p:cNvPr id="9" name="TextBox 8"/>
          <p:cNvSpPr txBox="1"/>
          <p:nvPr/>
        </p:nvSpPr>
        <p:spPr>
          <a:xfrm>
            <a:off x="914400" y="2762250"/>
            <a:ext cx="16192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Access patterns are narrow and known in advance. A single-table layout with one GSI keyed on a content hash handles every read, with single-digit-millisecond latency under on-demand billing.</a:t>
            </a:r>
          </a:p>
        </p:txBody>
      </p:sp>
      <p:sp>
        <p:nvSpPr>
          <p:cNvPr id="10" name="Rectangle 9"/>
          <p:cNvSpPr/>
          <p:nvPr/>
        </p:nvSpPr>
        <p:spPr>
          <a:xfrm>
            <a:off x="914400" y="4000500"/>
            <a:ext cx="9144000" cy="49530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1100" y="4229100"/>
            <a:ext cx="8610600" cy="381000"/>
          </a:xfrm>
          <a:prstGeom prst="rect">
            <a:avLst/>
          </a:prstGeom>
          <a:noFill/>
        </p:spPr>
        <p:txBody>
          <a:bodyPr wrap="square" lIns="0" rIns="0" tIns="0" bIns="0" anchor="t">
            <a:spAutoFit/>
          </a:bodyPr>
          <a:lstStyle/>
          <a:p>
            <a:pPr algn="l"/>
            <a:r>
              <a:rPr sz="2000">
                <a:solidFill>
                  <a:srgbClr val="F1F5F9"/>
                </a:solidFill>
                <a:latin typeface="IBM Plex Serif"/>
              </a:rPr>
              <a:t>MainTable</a:t>
            </a:r>
          </a:p>
        </p:txBody>
      </p:sp>
      <p:sp>
        <p:nvSpPr>
          <p:cNvPr id="12" name="TextBox 11"/>
          <p:cNvSpPr txBox="1"/>
          <p:nvPr/>
        </p:nvSpPr>
        <p:spPr>
          <a:xfrm>
            <a:off x="1181100" y="4552950"/>
            <a:ext cx="8610600" cy="266700"/>
          </a:xfrm>
          <a:prstGeom prst="rect">
            <a:avLst/>
          </a:prstGeom>
          <a:noFill/>
        </p:spPr>
        <p:txBody>
          <a:bodyPr wrap="square" lIns="0" rIns="0" tIns="0" bIns="0" anchor="t">
            <a:spAutoFit/>
          </a:bodyPr>
          <a:lstStyle/>
          <a:p>
            <a:pPr algn="l"/>
            <a:r>
              <a:rPr sz="1000">
                <a:solidFill>
                  <a:srgbClr val="94A3B8"/>
                </a:solidFill>
                <a:latin typeface="JetBrains Mono"/>
              </a:rPr>
              <a:t>PK = USER#&lt;userId&gt;.   SK prefix encodes entity type.</a:t>
            </a:r>
          </a:p>
        </p:txBody>
      </p:sp>
      <p:sp>
        <p:nvSpPr>
          <p:cNvPr id="13" name="TextBox 12"/>
          <p:cNvSpPr txBox="1"/>
          <p:nvPr/>
        </p:nvSpPr>
        <p:spPr>
          <a:xfrm>
            <a:off x="1181100" y="5048250"/>
            <a:ext cx="2667000" cy="190500"/>
          </a:xfrm>
          <a:prstGeom prst="rect">
            <a:avLst/>
          </a:prstGeom>
          <a:noFill/>
        </p:spPr>
        <p:txBody>
          <a:bodyPr wrap="square" lIns="0" rIns="0" tIns="0" bIns="0" anchor="t">
            <a:spAutoFit/>
          </a:bodyPr>
          <a:lstStyle/>
          <a:p>
            <a:pPr algn="l"/>
            <a:r>
              <a:rPr sz="900" b="1">
                <a:solidFill>
                  <a:srgbClr val="64748B"/>
                </a:solidFill>
                <a:latin typeface="JetBrains Mono"/>
              </a:rPr>
              <a:t>PK</a:t>
            </a:r>
          </a:p>
        </p:txBody>
      </p:sp>
      <p:sp>
        <p:nvSpPr>
          <p:cNvPr id="14" name="TextBox 13"/>
          <p:cNvSpPr txBox="1"/>
          <p:nvPr/>
        </p:nvSpPr>
        <p:spPr>
          <a:xfrm>
            <a:off x="4057650" y="5048250"/>
            <a:ext cx="2095500" cy="190500"/>
          </a:xfrm>
          <a:prstGeom prst="rect">
            <a:avLst/>
          </a:prstGeom>
          <a:noFill/>
        </p:spPr>
        <p:txBody>
          <a:bodyPr wrap="square" lIns="0" rIns="0" tIns="0" bIns="0" anchor="t">
            <a:spAutoFit/>
          </a:bodyPr>
          <a:lstStyle/>
          <a:p>
            <a:pPr algn="l"/>
            <a:r>
              <a:rPr sz="900" b="1">
                <a:solidFill>
                  <a:srgbClr val="64748B"/>
                </a:solidFill>
                <a:latin typeface="JetBrains Mono"/>
              </a:rPr>
              <a:t>SK</a:t>
            </a:r>
          </a:p>
        </p:txBody>
      </p:sp>
      <p:sp>
        <p:nvSpPr>
          <p:cNvPr id="15" name="TextBox 14"/>
          <p:cNvSpPr txBox="1"/>
          <p:nvPr/>
        </p:nvSpPr>
        <p:spPr>
          <a:xfrm>
            <a:off x="6248400" y="5048250"/>
            <a:ext cx="3619500" cy="190500"/>
          </a:xfrm>
          <a:prstGeom prst="rect">
            <a:avLst/>
          </a:prstGeom>
          <a:noFill/>
        </p:spPr>
        <p:txBody>
          <a:bodyPr wrap="square" lIns="0" rIns="0" tIns="0" bIns="0" anchor="t">
            <a:spAutoFit/>
          </a:bodyPr>
          <a:lstStyle/>
          <a:p>
            <a:pPr algn="l"/>
            <a:r>
              <a:rPr sz="900" b="1">
                <a:solidFill>
                  <a:srgbClr val="64748B"/>
                </a:solidFill>
                <a:latin typeface="JetBrains Mono"/>
              </a:rPr>
              <a:t>ITEM</a:t>
            </a:r>
          </a:p>
        </p:txBody>
      </p:sp>
      <p:cxnSp>
        <p:nvCxnSpPr>
          <p:cNvPr id="16" name="Connector 15"/>
          <p:cNvCxnSpPr/>
          <p:nvPr/>
        </p:nvCxnSpPr>
        <p:spPr>
          <a:xfrm>
            <a:off x="1181100" y="5276850"/>
            <a:ext cx="86106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81100" y="5429250"/>
            <a:ext cx="2762250" cy="266700"/>
          </a:xfrm>
          <a:prstGeom prst="rect">
            <a:avLst/>
          </a:prstGeom>
          <a:noFill/>
        </p:spPr>
        <p:txBody>
          <a:bodyPr wrap="square" lIns="0" rIns="0" tIns="0" bIns="0" anchor="t">
            <a:spAutoFit/>
          </a:bodyPr>
          <a:lstStyle/>
          <a:p>
            <a:pPr algn="l"/>
            <a:r>
              <a:rPr sz="1100">
                <a:solidFill>
                  <a:srgbClr val="38BDF8"/>
                </a:solidFill>
                <a:latin typeface="JetBrains Mono"/>
              </a:rPr>
              <a:t>USER#u123</a:t>
            </a:r>
          </a:p>
        </p:txBody>
      </p:sp>
      <p:sp>
        <p:nvSpPr>
          <p:cNvPr id="18" name="TextBox 17"/>
          <p:cNvSpPr txBox="1"/>
          <p:nvPr/>
        </p:nvSpPr>
        <p:spPr>
          <a:xfrm>
            <a:off x="4057650" y="5429250"/>
            <a:ext cx="2095500" cy="266700"/>
          </a:xfrm>
          <a:prstGeom prst="rect">
            <a:avLst/>
          </a:prstGeom>
          <a:noFill/>
        </p:spPr>
        <p:txBody>
          <a:bodyPr wrap="square" lIns="0" rIns="0" tIns="0" bIns="0" anchor="t">
            <a:spAutoFit/>
          </a:bodyPr>
          <a:lstStyle/>
          <a:p>
            <a:pPr algn="l"/>
            <a:r>
              <a:rPr sz="1100">
                <a:solidFill>
                  <a:srgbClr val="CBD5E1"/>
                </a:solidFill>
                <a:latin typeface="JetBrains Mono"/>
              </a:rPr>
              <a:t>PROFILE#</a:t>
            </a:r>
          </a:p>
        </p:txBody>
      </p:sp>
      <p:sp>
        <p:nvSpPr>
          <p:cNvPr id="19" name="TextBox 18"/>
          <p:cNvSpPr txBox="1"/>
          <p:nvPr/>
        </p:nvSpPr>
        <p:spPr>
          <a:xfrm>
            <a:off x="6248400" y="5429250"/>
            <a:ext cx="3619500" cy="266700"/>
          </a:xfrm>
          <a:prstGeom prst="rect">
            <a:avLst/>
          </a:prstGeom>
          <a:noFill/>
        </p:spPr>
        <p:txBody>
          <a:bodyPr wrap="square" lIns="0" rIns="0" tIns="0" bIns="0" anchor="t">
            <a:spAutoFit/>
          </a:bodyPr>
          <a:lstStyle/>
          <a:p>
            <a:pPr algn="l"/>
            <a:r>
              <a:rPr sz="1100">
                <a:solidFill>
                  <a:srgbClr val="CBD5E1"/>
                </a:solidFill>
                <a:latin typeface="JetBrains Mono"/>
              </a:rPr>
              <a:t>quota, plan</a:t>
            </a:r>
          </a:p>
        </p:txBody>
      </p:sp>
      <p:cxnSp>
        <p:nvCxnSpPr>
          <p:cNvPr id="20" name="Connector 19"/>
          <p:cNvCxnSpPr/>
          <p:nvPr/>
        </p:nvCxnSpPr>
        <p:spPr>
          <a:xfrm>
            <a:off x="1181100" y="5772150"/>
            <a:ext cx="8610600" cy="0"/>
          </a:xfrm>
          <a:prstGeom prst="line">
            <a:avLst/>
          </a:prstGeom>
          <a:ln w="9525">
            <a:solidFill>
              <a:srgbClr val="1C213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81100" y="6000750"/>
            <a:ext cx="2762250" cy="266700"/>
          </a:xfrm>
          <a:prstGeom prst="rect">
            <a:avLst/>
          </a:prstGeom>
          <a:noFill/>
        </p:spPr>
        <p:txBody>
          <a:bodyPr wrap="square" lIns="0" rIns="0" tIns="0" bIns="0" anchor="t">
            <a:spAutoFit/>
          </a:bodyPr>
          <a:lstStyle/>
          <a:p>
            <a:pPr algn="l"/>
            <a:r>
              <a:rPr sz="1100">
                <a:solidFill>
                  <a:srgbClr val="38BDF8"/>
                </a:solidFill>
                <a:latin typeface="JetBrains Mono"/>
              </a:rPr>
              <a:t>USER#u123</a:t>
            </a:r>
          </a:p>
        </p:txBody>
      </p:sp>
      <p:sp>
        <p:nvSpPr>
          <p:cNvPr id="22" name="TextBox 21"/>
          <p:cNvSpPr txBox="1"/>
          <p:nvPr/>
        </p:nvSpPr>
        <p:spPr>
          <a:xfrm>
            <a:off x="4057650" y="6000750"/>
            <a:ext cx="2095500" cy="266700"/>
          </a:xfrm>
          <a:prstGeom prst="rect">
            <a:avLst/>
          </a:prstGeom>
          <a:noFill/>
        </p:spPr>
        <p:txBody>
          <a:bodyPr wrap="square" lIns="0" rIns="0" tIns="0" bIns="0" anchor="t">
            <a:spAutoFit/>
          </a:bodyPr>
          <a:lstStyle/>
          <a:p>
            <a:pPr algn="l"/>
            <a:r>
              <a:rPr sz="1100">
                <a:solidFill>
                  <a:srgbClr val="CBD5E1"/>
                </a:solidFill>
                <a:latin typeface="JetBrains Mono"/>
              </a:rPr>
              <a:t>JOB#j789</a:t>
            </a:r>
          </a:p>
        </p:txBody>
      </p:sp>
      <p:sp>
        <p:nvSpPr>
          <p:cNvPr id="23" name="TextBox 22"/>
          <p:cNvSpPr txBox="1"/>
          <p:nvPr/>
        </p:nvSpPr>
        <p:spPr>
          <a:xfrm>
            <a:off x="6248400" y="6000750"/>
            <a:ext cx="3619500" cy="266700"/>
          </a:xfrm>
          <a:prstGeom prst="rect">
            <a:avLst/>
          </a:prstGeom>
          <a:noFill/>
        </p:spPr>
        <p:txBody>
          <a:bodyPr wrap="square" lIns="0" rIns="0" tIns="0" bIns="0" anchor="t">
            <a:spAutoFit/>
          </a:bodyPr>
          <a:lstStyle/>
          <a:p>
            <a:pPr algn="l"/>
            <a:r>
              <a:rPr sz="1100">
                <a:solidFill>
                  <a:srgbClr val="CBD5E1"/>
                </a:solidFill>
                <a:latin typeface="JetBrains Mono"/>
              </a:rPr>
              <a:t>summary, sections, meanEmbedding</a:t>
            </a:r>
          </a:p>
        </p:txBody>
      </p:sp>
      <p:cxnSp>
        <p:nvCxnSpPr>
          <p:cNvPr id="24" name="Connector 23"/>
          <p:cNvCxnSpPr/>
          <p:nvPr/>
        </p:nvCxnSpPr>
        <p:spPr>
          <a:xfrm>
            <a:off x="1181100" y="6343650"/>
            <a:ext cx="8610600" cy="0"/>
          </a:xfrm>
          <a:prstGeom prst="line">
            <a:avLst/>
          </a:prstGeom>
          <a:ln w="9525">
            <a:solidFill>
              <a:srgbClr val="1C213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81100" y="6572250"/>
            <a:ext cx="2762250" cy="266700"/>
          </a:xfrm>
          <a:prstGeom prst="rect">
            <a:avLst/>
          </a:prstGeom>
          <a:noFill/>
        </p:spPr>
        <p:txBody>
          <a:bodyPr wrap="square" lIns="0" rIns="0" tIns="0" bIns="0" anchor="t">
            <a:spAutoFit/>
          </a:bodyPr>
          <a:lstStyle/>
          <a:p>
            <a:pPr algn="l"/>
            <a:r>
              <a:rPr sz="1100">
                <a:solidFill>
                  <a:srgbClr val="38BDF8"/>
                </a:solidFill>
                <a:latin typeface="JetBrains Mono"/>
              </a:rPr>
              <a:t>JOB#j789</a:t>
            </a:r>
          </a:p>
        </p:txBody>
      </p:sp>
      <p:sp>
        <p:nvSpPr>
          <p:cNvPr id="26" name="TextBox 25"/>
          <p:cNvSpPr txBox="1"/>
          <p:nvPr/>
        </p:nvSpPr>
        <p:spPr>
          <a:xfrm>
            <a:off x="4057650" y="6572250"/>
            <a:ext cx="2095500" cy="266700"/>
          </a:xfrm>
          <a:prstGeom prst="rect">
            <a:avLst/>
          </a:prstGeom>
          <a:noFill/>
        </p:spPr>
        <p:txBody>
          <a:bodyPr wrap="square" lIns="0" rIns="0" tIns="0" bIns="0" anchor="t">
            <a:spAutoFit/>
          </a:bodyPr>
          <a:lstStyle/>
          <a:p>
            <a:pPr algn="l"/>
            <a:r>
              <a:rPr sz="1100">
                <a:solidFill>
                  <a:srgbClr val="CBD5E1"/>
                </a:solidFill>
                <a:latin typeface="JetBrains Mono"/>
              </a:rPr>
              <a:t>CHUNK#0</a:t>
            </a:r>
          </a:p>
        </p:txBody>
      </p:sp>
      <p:sp>
        <p:nvSpPr>
          <p:cNvPr id="27" name="TextBox 26"/>
          <p:cNvSpPr txBox="1"/>
          <p:nvPr/>
        </p:nvSpPr>
        <p:spPr>
          <a:xfrm>
            <a:off x="6248400" y="6572250"/>
            <a:ext cx="3619500" cy="266700"/>
          </a:xfrm>
          <a:prstGeom prst="rect">
            <a:avLst/>
          </a:prstGeom>
          <a:noFill/>
        </p:spPr>
        <p:txBody>
          <a:bodyPr wrap="square" lIns="0" rIns="0" tIns="0" bIns="0" anchor="t">
            <a:spAutoFit/>
          </a:bodyPr>
          <a:lstStyle/>
          <a:p>
            <a:pPr algn="l"/>
            <a:r>
              <a:rPr sz="1100">
                <a:solidFill>
                  <a:srgbClr val="CBD5E1"/>
                </a:solidFill>
                <a:latin typeface="JetBrains Mono"/>
              </a:rPr>
              <a:t>text, 1024-d Titan v2 vector</a:t>
            </a:r>
          </a:p>
        </p:txBody>
      </p:sp>
      <p:cxnSp>
        <p:nvCxnSpPr>
          <p:cNvPr id="28" name="Connector 27"/>
          <p:cNvCxnSpPr/>
          <p:nvPr/>
        </p:nvCxnSpPr>
        <p:spPr>
          <a:xfrm>
            <a:off x="1181100" y="6915150"/>
            <a:ext cx="8610600" cy="0"/>
          </a:xfrm>
          <a:prstGeom prst="line">
            <a:avLst/>
          </a:prstGeom>
          <a:ln w="9525">
            <a:solidFill>
              <a:srgbClr val="1C213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181100" y="7143750"/>
            <a:ext cx="2762250" cy="266700"/>
          </a:xfrm>
          <a:prstGeom prst="rect">
            <a:avLst/>
          </a:prstGeom>
          <a:noFill/>
        </p:spPr>
        <p:txBody>
          <a:bodyPr wrap="square" lIns="0" rIns="0" tIns="0" bIns="0" anchor="t">
            <a:spAutoFit/>
          </a:bodyPr>
          <a:lstStyle/>
          <a:p>
            <a:pPr algn="l"/>
            <a:r>
              <a:rPr sz="1100">
                <a:solidFill>
                  <a:srgbClr val="38BDF8"/>
                </a:solidFill>
                <a:latin typeface="JetBrains Mono"/>
              </a:rPr>
              <a:t>JOB#j789</a:t>
            </a:r>
          </a:p>
        </p:txBody>
      </p:sp>
      <p:sp>
        <p:nvSpPr>
          <p:cNvPr id="30" name="TextBox 29"/>
          <p:cNvSpPr txBox="1"/>
          <p:nvPr/>
        </p:nvSpPr>
        <p:spPr>
          <a:xfrm>
            <a:off x="4057650" y="7143750"/>
            <a:ext cx="2095500" cy="266700"/>
          </a:xfrm>
          <a:prstGeom prst="rect">
            <a:avLst/>
          </a:prstGeom>
          <a:noFill/>
        </p:spPr>
        <p:txBody>
          <a:bodyPr wrap="square" lIns="0" rIns="0" tIns="0" bIns="0" anchor="t">
            <a:spAutoFit/>
          </a:bodyPr>
          <a:lstStyle/>
          <a:p>
            <a:pPr algn="l"/>
            <a:r>
              <a:rPr sz="1100">
                <a:solidFill>
                  <a:srgbClr val="CBD5E1"/>
                </a:solidFill>
                <a:latin typeface="JetBrains Mono"/>
              </a:rPr>
              <a:t>CHUNK#1</a:t>
            </a:r>
          </a:p>
        </p:txBody>
      </p:sp>
      <p:sp>
        <p:nvSpPr>
          <p:cNvPr id="31" name="TextBox 30"/>
          <p:cNvSpPr txBox="1"/>
          <p:nvPr/>
        </p:nvSpPr>
        <p:spPr>
          <a:xfrm>
            <a:off x="6248400" y="7143750"/>
            <a:ext cx="3619500" cy="266700"/>
          </a:xfrm>
          <a:prstGeom prst="rect">
            <a:avLst/>
          </a:prstGeom>
          <a:noFill/>
        </p:spPr>
        <p:txBody>
          <a:bodyPr wrap="square" lIns="0" rIns="0" tIns="0" bIns="0" anchor="t">
            <a:spAutoFit/>
          </a:bodyPr>
          <a:lstStyle/>
          <a:p>
            <a:pPr algn="l"/>
            <a:r>
              <a:rPr sz="1100">
                <a:solidFill>
                  <a:srgbClr val="CBD5E1"/>
                </a:solidFill>
                <a:latin typeface="JetBrains Mono"/>
              </a:rPr>
              <a:t>text, vector</a:t>
            </a:r>
          </a:p>
        </p:txBody>
      </p:sp>
      <p:cxnSp>
        <p:nvCxnSpPr>
          <p:cNvPr id="32" name="Connector 31"/>
          <p:cNvCxnSpPr/>
          <p:nvPr/>
        </p:nvCxnSpPr>
        <p:spPr>
          <a:xfrm>
            <a:off x="1181100" y="7486650"/>
            <a:ext cx="8610600" cy="0"/>
          </a:xfrm>
          <a:prstGeom prst="line">
            <a:avLst/>
          </a:prstGeom>
          <a:ln w="9525">
            <a:solidFill>
              <a:srgbClr val="1C2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81100" y="7715250"/>
            <a:ext cx="2762250" cy="266700"/>
          </a:xfrm>
          <a:prstGeom prst="rect">
            <a:avLst/>
          </a:prstGeom>
          <a:noFill/>
        </p:spPr>
        <p:txBody>
          <a:bodyPr wrap="square" lIns="0" rIns="0" tIns="0" bIns="0" anchor="t">
            <a:spAutoFit/>
          </a:bodyPr>
          <a:lstStyle/>
          <a:p>
            <a:pPr algn="l"/>
            <a:r>
              <a:rPr sz="1100">
                <a:solidFill>
                  <a:srgbClr val="C084FC"/>
                </a:solidFill>
                <a:latin typeface="JetBrains Mono"/>
              </a:rPr>
              <a:t>GSI1: PAPER#&lt;sha256&gt;</a:t>
            </a:r>
          </a:p>
        </p:txBody>
      </p:sp>
      <p:sp>
        <p:nvSpPr>
          <p:cNvPr id="34" name="TextBox 33"/>
          <p:cNvSpPr txBox="1"/>
          <p:nvPr/>
        </p:nvSpPr>
        <p:spPr>
          <a:xfrm>
            <a:off x="4057650" y="7715250"/>
            <a:ext cx="2095500" cy="266700"/>
          </a:xfrm>
          <a:prstGeom prst="rect">
            <a:avLst/>
          </a:prstGeom>
          <a:noFill/>
        </p:spPr>
        <p:txBody>
          <a:bodyPr wrap="square" lIns="0" rIns="0" tIns="0" bIns="0" anchor="t">
            <a:spAutoFit/>
          </a:bodyPr>
          <a:lstStyle/>
          <a:p>
            <a:pPr algn="l"/>
            <a:r>
              <a:rPr sz="1100">
                <a:solidFill>
                  <a:srgbClr val="CBD5E1"/>
                </a:solidFill>
                <a:latin typeface="JetBrains Mono"/>
              </a:rPr>
              <a:t>JOB#j789</a:t>
            </a:r>
          </a:p>
        </p:txBody>
      </p:sp>
      <p:sp>
        <p:nvSpPr>
          <p:cNvPr id="35" name="TextBox 34"/>
          <p:cNvSpPr txBox="1"/>
          <p:nvPr/>
        </p:nvSpPr>
        <p:spPr>
          <a:xfrm>
            <a:off x="6248400" y="7715250"/>
            <a:ext cx="3619500" cy="266700"/>
          </a:xfrm>
          <a:prstGeom prst="rect">
            <a:avLst/>
          </a:prstGeom>
          <a:noFill/>
        </p:spPr>
        <p:txBody>
          <a:bodyPr wrap="square" lIns="0" rIns="0" tIns="0" bIns="0" anchor="t">
            <a:spAutoFit/>
          </a:bodyPr>
          <a:lstStyle/>
          <a:p>
            <a:pPr algn="l"/>
            <a:r>
              <a:rPr sz="1100">
                <a:solidFill>
                  <a:srgbClr val="CBD5E1"/>
                </a:solidFill>
                <a:latin typeface="JetBrains Mono"/>
              </a:rPr>
              <a:t>cross-user content-hash dedup</a:t>
            </a:r>
          </a:p>
        </p:txBody>
      </p:sp>
      <p:cxnSp>
        <p:nvCxnSpPr>
          <p:cNvPr id="36" name="Connector 35"/>
          <p:cNvCxnSpPr/>
          <p:nvPr/>
        </p:nvCxnSpPr>
        <p:spPr>
          <a:xfrm>
            <a:off x="1181100" y="8058150"/>
            <a:ext cx="8610600" cy="0"/>
          </a:xfrm>
          <a:prstGeom prst="line">
            <a:avLst/>
          </a:prstGeom>
          <a:ln w="9525">
            <a:solidFill>
              <a:srgbClr val="1C2132"/>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477500" y="4000500"/>
            <a:ext cx="6934200" cy="15621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687050" y="4171950"/>
            <a:ext cx="6515100" cy="304800"/>
          </a:xfrm>
          <a:prstGeom prst="rect">
            <a:avLst/>
          </a:prstGeom>
          <a:noFill/>
        </p:spPr>
        <p:txBody>
          <a:bodyPr wrap="square" lIns="0" rIns="0" tIns="0" bIns="0" anchor="t">
            <a:spAutoFit/>
          </a:bodyPr>
          <a:lstStyle/>
          <a:p>
            <a:pPr algn="l">
              <a:lnSpc>
                <a:spcPct val="120000"/>
              </a:lnSpc>
            </a:pPr>
            <a:r>
              <a:rPr sz="1500" b="1">
                <a:solidFill>
                  <a:srgbClr val="F1F5F9"/>
                </a:solidFill>
                <a:latin typeface="Inter"/>
              </a:rPr>
              <a:t>Content-hash deduplication via GSI1.</a:t>
            </a:r>
          </a:p>
        </p:txBody>
      </p:sp>
      <p:sp>
        <p:nvSpPr>
          <p:cNvPr id="39" name="TextBox 38"/>
          <p:cNvSpPr txBox="1"/>
          <p:nvPr/>
        </p:nvSpPr>
        <p:spPr>
          <a:xfrm>
            <a:off x="10687050" y="4552950"/>
            <a:ext cx="6515100" cy="1143000"/>
          </a:xfrm>
          <a:prstGeom prst="rect">
            <a:avLst/>
          </a:prstGeom>
          <a:noFill/>
        </p:spPr>
        <p:txBody>
          <a:bodyPr wrap="square" lIns="0" rIns="0" tIns="0" bIns="0" anchor="t">
            <a:spAutoFit/>
          </a:bodyPr>
          <a:lstStyle/>
          <a:p>
            <a:pPr algn="l">
              <a:lnSpc>
                <a:spcPct val="150000"/>
              </a:lnSpc>
            </a:pPr>
            <a:r>
              <a:rPr sz="1200" b="0">
                <a:solidFill>
                  <a:srgbClr val="CBD5E1"/>
                </a:solidFill>
                <a:latin typeface="Inter"/>
              </a:rPr>
              <a:t>A second user submitting a paper a first user already summarized triggers a GSI1 lookup, copies the existing JOB record, and refunds the second user's quota.</a:t>
            </a:r>
          </a:p>
        </p:txBody>
      </p:sp>
      <p:sp>
        <p:nvSpPr>
          <p:cNvPr id="40" name="Rectangle 39"/>
          <p:cNvSpPr/>
          <p:nvPr/>
        </p:nvSpPr>
        <p:spPr>
          <a:xfrm>
            <a:off x="10477500" y="5676900"/>
            <a:ext cx="6934200" cy="15621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87050" y="5848350"/>
            <a:ext cx="6515100" cy="304800"/>
          </a:xfrm>
          <a:prstGeom prst="rect">
            <a:avLst/>
          </a:prstGeom>
          <a:noFill/>
        </p:spPr>
        <p:txBody>
          <a:bodyPr wrap="square" lIns="0" rIns="0" tIns="0" bIns="0" anchor="t">
            <a:spAutoFit/>
          </a:bodyPr>
          <a:lstStyle/>
          <a:p>
            <a:pPr algn="l">
              <a:lnSpc>
                <a:spcPct val="120000"/>
              </a:lnSpc>
            </a:pPr>
            <a:r>
              <a:rPr sz="1500" b="1">
                <a:solidFill>
                  <a:srgbClr val="F1F5F9"/>
                </a:solidFill>
                <a:latin typeface="Inter"/>
              </a:rPr>
              <a:t>Two S3 buckets, distinct postures.</a:t>
            </a:r>
          </a:p>
        </p:txBody>
      </p:sp>
      <p:sp>
        <p:nvSpPr>
          <p:cNvPr id="42" name="TextBox 41"/>
          <p:cNvSpPr txBox="1"/>
          <p:nvPr/>
        </p:nvSpPr>
        <p:spPr>
          <a:xfrm>
            <a:off x="10687050" y="6229350"/>
            <a:ext cx="6515100" cy="1143000"/>
          </a:xfrm>
          <a:prstGeom prst="rect">
            <a:avLst/>
          </a:prstGeom>
          <a:noFill/>
        </p:spPr>
        <p:txBody>
          <a:bodyPr wrap="square" lIns="0" rIns="0" tIns="0" bIns="0" anchor="t">
            <a:spAutoFit/>
          </a:bodyPr>
          <a:lstStyle/>
          <a:p>
            <a:pPr algn="l">
              <a:lnSpc>
                <a:spcPct val="150000"/>
              </a:lnSpc>
            </a:pPr>
            <a:r>
              <a:rPr sz="1200" b="0">
                <a:solidFill>
                  <a:srgbClr val="CBD5E1"/>
                </a:solidFill>
                <a:latin typeface="Inter"/>
              </a:rPr>
              <a:t>Frontend bucket: private, served only via CloudFront Origin Access Control. PDFs bucket: 30-day IA transition, 90-day expiration. Storage cost stays flat.</a:t>
            </a:r>
          </a:p>
        </p:txBody>
      </p:sp>
      <p:sp>
        <p:nvSpPr>
          <p:cNvPr id="43" name="Rectangle 42"/>
          <p:cNvSpPr/>
          <p:nvPr/>
        </p:nvSpPr>
        <p:spPr>
          <a:xfrm>
            <a:off x="10477500" y="7353300"/>
            <a:ext cx="6934200" cy="15621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87050" y="7524750"/>
            <a:ext cx="6515100" cy="304800"/>
          </a:xfrm>
          <a:prstGeom prst="rect">
            <a:avLst/>
          </a:prstGeom>
          <a:noFill/>
        </p:spPr>
        <p:txBody>
          <a:bodyPr wrap="square" lIns="0" rIns="0" tIns="0" bIns="0" anchor="t">
            <a:spAutoFit/>
          </a:bodyPr>
          <a:lstStyle/>
          <a:p>
            <a:pPr algn="l">
              <a:lnSpc>
                <a:spcPct val="120000"/>
              </a:lnSpc>
            </a:pPr>
            <a:r>
              <a:rPr sz="1500" b="1">
                <a:solidFill>
                  <a:srgbClr val="F1F5F9"/>
                </a:solidFill>
                <a:latin typeface="Inter"/>
              </a:rPr>
              <a:t>Encryption and on-demand billing.</a:t>
            </a:r>
          </a:p>
        </p:txBody>
      </p:sp>
      <p:sp>
        <p:nvSpPr>
          <p:cNvPr id="45" name="TextBox 44"/>
          <p:cNvSpPr txBox="1"/>
          <p:nvPr/>
        </p:nvSpPr>
        <p:spPr>
          <a:xfrm>
            <a:off x="10687050" y="7905750"/>
            <a:ext cx="6515100" cy="1143000"/>
          </a:xfrm>
          <a:prstGeom prst="rect">
            <a:avLst/>
          </a:prstGeom>
          <a:noFill/>
        </p:spPr>
        <p:txBody>
          <a:bodyPr wrap="square" lIns="0" rIns="0" tIns="0" bIns="0" anchor="t">
            <a:spAutoFit/>
          </a:bodyPr>
          <a:lstStyle/>
          <a:p>
            <a:pPr algn="l">
              <a:lnSpc>
                <a:spcPct val="150000"/>
              </a:lnSpc>
            </a:pPr>
            <a:r>
              <a:rPr sz="1200" b="0">
                <a:solidFill>
                  <a:srgbClr val="CBD5E1"/>
                </a:solidFill>
                <a:latin typeface="Inter"/>
              </a:rPr>
              <a:t>AWS-managed KMS at rest. On-demand DynamoDB billing means storage cost scales with actual usage. Block-public-access enabled on every bucket.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V.  RELIABILITY · OBSERVABILITY · IAM</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05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Every cross-service call has an explicit failure path.</a:t>
            </a:r>
          </a:p>
        </p:txBody>
      </p:sp>
      <p:sp>
        <p:nvSpPr>
          <p:cNvPr id="9" name="TextBox 8"/>
          <p:cNvSpPr txBox="1"/>
          <p:nvPr/>
        </p:nvSpPr>
        <p:spPr>
          <a:xfrm>
            <a:off x="914400" y="2190750"/>
            <a:ext cx="16192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Idempotent writes, bounded retries, dead-letter quarantine, alarmed observability, least-privilege IAM. Six properties the rubric asks for and the system actually exhibits.</a:t>
            </a:r>
          </a:p>
        </p:txBody>
      </p:sp>
      <p:sp>
        <p:nvSpPr>
          <p:cNvPr id="10" name="Rectangle 9"/>
          <p:cNvSpPr/>
          <p:nvPr/>
        </p:nvSpPr>
        <p:spPr>
          <a:xfrm>
            <a:off x="914400" y="3524250"/>
            <a:ext cx="16459200" cy="53340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400800" y="3524250"/>
            <a:ext cx="0" cy="53340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887200" y="3524250"/>
            <a:ext cx="0" cy="53340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619125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10250" y="3695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01</a:t>
            </a:r>
          </a:p>
        </p:txBody>
      </p:sp>
      <p:sp>
        <p:nvSpPr>
          <p:cNvPr id="15" name="TextBox 14"/>
          <p:cNvSpPr txBox="1"/>
          <p:nvPr/>
        </p:nvSpPr>
        <p:spPr>
          <a:xfrm>
            <a:off x="1123950" y="3790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Idempotent by construction.</a:t>
            </a:r>
          </a:p>
        </p:txBody>
      </p:sp>
      <p:sp>
        <p:nvSpPr>
          <p:cNvPr id="16" name="TextBox 15"/>
          <p:cNvSpPr txBox="1"/>
          <p:nvPr/>
        </p:nvSpPr>
        <p:spPr>
          <a:xfrm>
            <a:off x="1123950" y="4333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Step Functions execution name derived from jobId; an SQS redrive is rejected as duplicate. Every DynamoDB write keys on jobId, so a replay never corrupts state.</a:t>
            </a:r>
          </a:p>
        </p:txBody>
      </p:sp>
      <p:sp>
        <p:nvSpPr>
          <p:cNvPr id="17" name="TextBox 16"/>
          <p:cNvSpPr txBox="1"/>
          <p:nvPr/>
        </p:nvSpPr>
        <p:spPr>
          <a:xfrm>
            <a:off x="11296650" y="3695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02</a:t>
            </a:r>
          </a:p>
        </p:txBody>
      </p:sp>
      <p:sp>
        <p:nvSpPr>
          <p:cNvPr id="18" name="TextBox 17"/>
          <p:cNvSpPr txBox="1"/>
          <p:nvPr/>
        </p:nvSpPr>
        <p:spPr>
          <a:xfrm>
            <a:off x="6610350" y="3790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Retry where it makes sense, DLQ where it does not.</a:t>
            </a:r>
          </a:p>
        </p:txBody>
      </p:sp>
      <p:sp>
        <p:nvSpPr>
          <p:cNvPr id="19" name="TextBox 18"/>
          <p:cNvSpPr txBox="1"/>
          <p:nvPr/>
        </p:nvSpPr>
        <p:spPr>
          <a:xfrm>
            <a:off x="6610350" y="4333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Step Functions retries each task with exponential backoff. SQS redrive policy moves messages to a dead-letter queue after three failed attempts. No infinite loops.</a:t>
            </a:r>
          </a:p>
        </p:txBody>
      </p:sp>
      <p:sp>
        <p:nvSpPr>
          <p:cNvPr id="20" name="TextBox 19"/>
          <p:cNvSpPr txBox="1"/>
          <p:nvPr/>
        </p:nvSpPr>
        <p:spPr>
          <a:xfrm>
            <a:off x="16783050" y="3695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03</a:t>
            </a:r>
          </a:p>
        </p:txBody>
      </p:sp>
      <p:sp>
        <p:nvSpPr>
          <p:cNvPr id="21" name="TextBox 20"/>
          <p:cNvSpPr txBox="1"/>
          <p:nvPr/>
        </p:nvSpPr>
        <p:spPr>
          <a:xfrm>
            <a:off x="12096750" y="3790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Failures surface, never vanish.</a:t>
            </a:r>
          </a:p>
        </p:txBody>
      </p:sp>
      <p:sp>
        <p:nvSpPr>
          <p:cNvPr id="22" name="TextBox 21"/>
          <p:cNvSpPr txBox="1"/>
          <p:nvPr/>
        </p:nvSpPr>
        <p:spPr>
          <a:xfrm>
            <a:off x="12096750" y="4333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A MarkFailed state catches any uncaught error from any prior state, captures the cause, updates the JOB record to status "failed". The user sees a clean reason.</a:t>
            </a:r>
          </a:p>
        </p:txBody>
      </p:sp>
      <p:sp>
        <p:nvSpPr>
          <p:cNvPr id="23" name="TextBox 22"/>
          <p:cNvSpPr txBox="1"/>
          <p:nvPr/>
        </p:nvSpPr>
        <p:spPr>
          <a:xfrm>
            <a:off x="5810250" y="6362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04</a:t>
            </a:r>
          </a:p>
        </p:txBody>
      </p:sp>
      <p:sp>
        <p:nvSpPr>
          <p:cNvPr id="24" name="TextBox 23"/>
          <p:cNvSpPr txBox="1"/>
          <p:nvPr/>
        </p:nvSpPr>
        <p:spPr>
          <a:xfrm>
            <a:off x="1123950" y="6457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Observability across every Lambda.</a:t>
            </a:r>
          </a:p>
        </p:txBody>
      </p:sp>
      <p:sp>
        <p:nvSpPr>
          <p:cNvPr id="25" name="TextBox 24"/>
          <p:cNvSpPr txBox="1"/>
          <p:nvPr/>
        </p:nvSpPr>
        <p:spPr>
          <a:xfrm>
            <a:off x="1123950" y="7000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Four CloudWatch alarms (DLQ depth, SF failure count, pipeline errors, API errors) wired to SNS email. AWS X-Ray distributed tracing. AWS Budgets at $50 / month.</a:t>
            </a:r>
          </a:p>
        </p:txBody>
      </p:sp>
      <p:sp>
        <p:nvSpPr>
          <p:cNvPr id="26" name="TextBox 25"/>
          <p:cNvSpPr txBox="1"/>
          <p:nvPr/>
        </p:nvSpPr>
        <p:spPr>
          <a:xfrm>
            <a:off x="11296650" y="6362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05</a:t>
            </a:r>
          </a:p>
        </p:txBody>
      </p:sp>
      <p:sp>
        <p:nvSpPr>
          <p:cNvPr id="27" name="TextBox 26"/>
          <p:cNvSpPr txBox="1"/>
          <p:nvPr/>
        </p:nvSpPr>
        <p:spPr>
          <a:xfrm>
            <a:off x="6610350" y="6457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Least-privilege IAM, per function.</a:t>
            </a:r>
          </a:p>
        </p:txBody>
      </p:sp>
      <p:sp>
        <p:nvSpPr>
          <p:cNvPr id="28" name="TextBox 27"/>
          <p:cNvSpPr txBox="1"/>
          <p:nvPr/>
        </p:nvSpPr>
        <p:spPr>
          <a:xfrm>
            <a:off x="6610350" y="7000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searchFn cannot read the PDFs bucket. getSummaryFn cannot write DynamoDB. mapSummarize cannot read Cognito. Each Lambda role is the narrowest it can be.</a:t>
            </a:r>
          </a:p>
        </p:txBody>
      </p:sp>
      <p:sp>
        <p:nvSpPr>
          <p:cNvPr id="29" name="TextBox 28"/>
          <p:cNvSpPr txBox="1"/>
          <p:nvPr/>
        </p:nvSpPr>
        <p:spPr>
          <a:xfrm>
            <a:off x="16783050" y="6362700"/>
            <a:ext cx="571500" cy="190500"/>
          </a:xfrm>
          <a:prstGeom prst="rect">
            <a:avLst/>
          </a:prstGeom>
          <a:noFill/>
        </p:spPr>
        <p:txBody>
          <a:bodyPr wrap="square" lIns="0" rIns="0" tIns="0" bIns="0" anchor="t">
            <a:spAutoFit/>
          </a:bodyPr>
          <a:lstStyle/>
          <a:p>
            <a:pPr algn="r"/>
            <a:r>
              <a:rPr sz="1000" b="1">
                <a:solidFill>
                  <a:srgbClr val="64748B"/>
                </a:solidFill>
                <a:latin typeface="JetBrains Mono"/>
              </a:rPr>
              <a:t>06</a:t>
            </a:r>
          </a:p>
        </p:txBody>
      </p:sp>
      <p:sp>
        <p:nvSpPr>
          <p:cNvPr id="30" name="TextBox 29"/>
          <p:cNvSpPr txBox="1"/>
          <p:nvPr/>
        </p:nvSpPr>
        <p:spPr>
          <a:xfrm>
            <a:off x="12096750" y="6457950"/>
            <a:ext cx="5067300" cy="476250"/>
          </a:xfrm>
          <a:prstGeom prst="rect">
            <a:avLst/>
          </a:prstGeom>
          <a:noFill/>
        </p:spPr>
        <p:txBody>
          <a:bodyPr wrap="square" lIns="0" rIns="0" tIns="0" bIns="0" anchor="t">
            <a:spAutoFit/>
          </a:bodyPr>
          <a:lstStyle/>
          <a:p>
            <a:pPr algn="l">
              <a:lnSpc>
                <a:spcPct val="118000"/>
              </a:lnSpc>
            </a:pPr>
            <a:r>
              <a:rPr sz="1700">
                <a:solidFill>
                  <a:srgbClr val="F1F5F9"/>
                </a:solidFill>
                <a:latin typeface="IBM Plex Serif"/>
              </a:rPr>
              <a:t>No Lambda-to-Lambda direct calls.</a:t>
            </a:r>
          </a:p>
        </p:txBody>
      </p:sp>
      <p:sp>
        <p:nvSpPr>
          <p:cNvPr id="31" name="TextBox 30"/>
          <p:cNvSpPr txBox="1"/>
          <p:nvPr/>
        </p:nvSpPr>
        <p:spPr>
          <a:xfrm>
            <a:off x="12096750" y="7000875"/>
            <a:ext cx="5067300" cy="1619250"/>
          </a:xfrm>
          <a:prstGeom prst="rect">
            <a:avLst/>
          </a:prstGeom>
          <a:noFill/>
        </p:spPr>
        <p:txBody>
          <a:bodyPr wrap="square" lIns="0" rIns="0" tIns="0" bIns="0" anchor="t">
            <a:spAutoFit/>
          </a:bodyPr>
          <a:lstStyle/>
          <a:p>
            <a:pPr algn="l">
              <a:lnSpc>
                <a:spcPct val="155000"/>
              </a:lnSpc>
            </a:pPr>
            <a:r>
              <a:rPr sz="1200" b="0">
                <a:solidFill>
                  <a:srgbClr val="CBD5E1"/>
                </a:solidFill>
                <a:latin typeface="Inter"/>
              </a:rPr>
              <a:t>Inter-service communication is API Gateway, Amazon SQS, AWS Step Functions, or Amazon DynamoDB. Never lambda.invoke. A defect cannot cascade by direct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VI.  EVALUATION</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06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Measured against real arXiv submissions.</a:t>
            </a:r>
          </a:p>
        </p:txBody>
      </p:sp>
      <p:sp>
        <p:nvSpPr>
          <p:cNvPr id="9" name="TextBox 8"/>
          <p:cNvSpPr txBox="1"/>
          <p:nvPr/>
        </p:nvSpPr>
        <p:spPr>
          <a:xfrm>
            <a:off x="914400" y="2190750"/>
            <a:ext cx="16192500" cy="1714500"/>
          </a:xfrm>
          <a:prstGeom prst="rect">
            <a:avLst/>
          </a:prstGeom>
          <a:noFill/>
        </p:spPr>
        <p:txBody>
          <a:bodyPr wrap="square" lIns="0" rIns="0" tIns="0" bIns="0" anchor="t">
            <a:spAutoFit/>
          </a:bodyPr>
          <a:lstStyle/>
          <a:p>
            <a:pPr algn="l">
              <a:lnSpc>
                <a:spcPct val="150000"/>
              </a:lnSpc>
            </a:pPr>
            <a:r>
              <a:rPr sz="1600" b="0">
                <a:solidFill>
                  <a:srgbClr val="CBD5E1"/>
                </a:solidFill>
                <a:latin typeface="Inter"/>
              </a:rPr>
              <a:t>Numbers below are drawn from CloudWatch metrics and DynamoDB on the live deployment. Not benchmarks. Not promises.</a:t>
            </a:r>
          </a:p>
        </p:txBody>
      </p:sp>
      <p:cxnSp>
        <p:nvCxnSpPr>
          <p:cNvPr id="10" name="Connector 9"/>
          <p:cNvCxnSpPr/>
          <p:nvPr/>
        </p:nvCxnSpPr>
        <p:spPr>
          <a:xfrm>
            <a:off x="914400" y="4000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81100" y="4381500"/>
            <a:ext cx="3581400" cy="266700"/>
          </a:xfrm>
          <a:prstGeom prst="rect">
            <a:avLst/>
          </a:prstGeom>
          <a:noFill/>
        </p:spPr>
        <p:txBody>
          <a:bodyPr wrap="square" lIns="0" rIns="0" tIns="0" bIns="0" anchor="t">
            <a:spAutoFit/>
          </a:bodyPr>
          <a:lstStyle/>
          <a:p>
            <a:pPr algn="l"/>
            <a:r>
              <a:rPr sz="1000" b="1">
                <a:solidFill>
                  <a:srgbClr val="64748B"/>
                </a:solidFill>
                <a:latin typeface="JetBrains Mono"/>
              </a:rPr>
              <a:t>END-TO-END SUMMARY</a:t>
            </a:r>
          </a:p>
        </p:txBody>
      </p:sp>
      <p:sp>
        <p:nvSpPr>
          <p:cNvPr id="12" name="TextBox 11"/>
          <p:cNvSpPr txBox="1"/>
          <p:nvPr/>
        </p:nvSpPr>
        <p:spPr>
          <a:xfrm>
            <a:off x="1181100" y="4743450"/>
            <a:ext cx="3581400" cy="1333500"/>
          </a:xfrm>
          <a:prstGeom prst="rect">
            <a:avLst/>
          </a:prstGeom>
          <a:noFill/>
        </p:spPr>
        <p:txBody>
          <a:bodyPr wrap="square" lIns="0" rIns="0" tIns="0" bIns="0" anchor="t">
            <a:spAutoFit/>
          </a:bodyPr>
          <a:lstStyle/>
          <a:p>
            <a:pPr algn="l">
              <a:lnSpc>
                <a:spcPct val="100000"/>
              </a:lnSpc>
            </a:pPr>
            <a:r>
              <a:rPr sz="6400">
                <a:solidFill>
                  <a:srgbClr val="38BDF8"/>
                </a:solidFill>
                <a:latin typeface="IBM Plex Serif"/>
              </a:rPr>
              <a:t>27–50</a:t>
            </a:r>
            <a:r>
              <a:rPr sz="2400">
                <a:solidFill>
                  <a:srgbClr val="94A3B8"/>
                </a:solidFill>
                <a:latin typeface="IBM Plex Serif"/>
              </a:rPr>
              <a:t> s</a:t>
            </a:r>
          </a:p>
        </p:txBody>
      </p:sp>
      <p:sp>
        <p:nvSpPr>
          <p:cNvPr id="13" name="TextBox 12"/>
          <p:cNvSpPr txBox="1"/>
          <p:nvPr/>
        </p:nvSpPr>
        <p:spPr>
          <a:xfrm>
            <a:off x="1181100" y="6477000"/>
            <a:ext cx="3581400" cy="2095500"/>
          </a:xfrm>
          <a:prstGeom prst="rect">
            <a:avLst/>
          </a:prstGeom>
          <a:noFill/>
        </p:spPr>
        <p:txBody>
          <a:bodyPr wrap="square" lIns="0" rIns="0" tIns="0" bIns="0" anchor="t">
            <a:spAutoFit/>
          </a:bodyPr>
          <a:lstStyle/>
          <a:p>
            <a:pPr algn="l">
              <a:lnSpc>
                <a:spcPct val="155000"/>
              </a:lnSpc>
            </a:pPr>
            <a:r>
              <a:rPr sz="1200" b="0">
                <a:solidFill>
                  <a:srgbClr val="94A3B8"/>
                </a:solidFill>
                <a:latin typeface="Inter"/>
              </a:rPr>
              <a:t>Submit to "done", chunked, parallel-summarized, reduced. Wall-clock dominated by the slowest chunk plus reduction, not by chunk count.</a:t>
            </a:r>
          </a:p>
        </p:txBody>
      </p:sp>
      <p:cxnSp>
        <p:nvCxnSpPr>
          <p:cNvPr id="14" name="Connector 13"/>
          <p:cNvCxnSpPr/>
          <p:nvPr/>
        </p:nvCxnSpPr>
        <p:spPr>
          <a:xfrm>
            <a:off x="5029200" y="4191000"/>
            <a:ext cx="0" cy="4381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95900" y="4381500"/>
            <a:ext cx="3581400" cy="266700"/>
          </a:xfrm>
          <a:prstGeom prst="rect">
            <a:avLst/>
          </a:prstGeom>
          <a:noFill/>
        </p:spPr>
        <p:txBody>
          <a:bodyPr wrap="square" lIns="0" rIns="0" tIns="0" bIns="0" anchor="t">
            <a:spAutoFit/>
          </a:bodyPr>
          <a:lstStyle/>
          <a:p>
            <a:pPr algn="l"/>
            <a:r>
              <a:rPr sz="1000" b="1">
                <a:solidFill>
                  <a:srgbClr val="64748B"/>
                </a:solidFill>
                <a:latin typeface="JetBrains Mono"/>
              </a:rPr>
              <a:t>MARGINAL COST</a:t>
            </a:r>
          </a:p>
        </p:txBody>
      </p:sp>
      <p:sp>
        <p:nvSpPr>
          <p:cNvPr id="16" name="TextBox 15"/>
          <p:cNvSpPr txBox="1"/>
          <p:nvPr/>
        </p:nvSpPr>
        <p:spPr>
          <a:xfrm>
            <a:off x="5295900" y="4743450"/>
            <a:ext cx="3581400" cy="1333500"/>
          </a:xfrm>
          <a:prstGeom prst="rect">
            <a:avLst/>
          </a:prstGeom>
          <a:noFill/>
        </p:spPr>
        <p:txBody>
          <a:bodyPr wrap="square" lIns="0" rIns="0" tIns="0" bIns="0" anchor="t">
            <a:spAutoFit/>
          </a:bodyPr>
          <a:lstStyle/>
          <a:p>
            <a:pPr algn="l">
              <a:lnSpc>
                <a:spcPct val="100000"/>
              </a:lnSpc>
            </a:pPr>
            <a:r>
              <a:rPr sz="6400">
                <a:solidFill>
                  <a:srgbClr val="F1F5F9"/>
                </a:solidFill>
                <a:latin typeface="IBM Plex Serif"/>
              </a:rPr>
              <a:t>$0.20</a:t>
            </a:r>
            <a:r>
              <a:rPr sz="2400">
                <a:solidFill>
                  <a:srgbClr val="94A3B8"/>
                </a:solidFill>
                <a:latin typeface="IBM Plex Serif"/>
              </a:rPr>
              <a:t/>
            </a:r>
          </a:p>
        </p:txBody>
      </p:sp>
      <p:sp>
        <p:nvSpPr>
          <p:cNvPr id="17" name="TextBox 16"/>
          <p:cNvSpPr txBox="1"/>
          <p:nvPr/>
        </p:nvSpPr>
        <p:spPr>
          <a:xfrm>
            <a:off x="5295900" y="6477000"/>
            <a:ext cx="3581400" cy="2095500"/>
          </a:xfrm>
          <a:prstGeom prst="rect">
            <a:avLst/>
          </a:prstGeom>
          <a:noFill/>
        </p:spPr>
        <p:txBody>
          <a:bodyPr wrap="square" lIns="0" rIns="0" tIns="0" bIns="0" anchor="t">
            <a:spAutoFit/>
          </a:bodyPr>
          <a:lstStyle/>
          <a:p>
            <a:pPr algn="l">
              <a:lnSpc>
                <a:spcPct val="155000"/>
              </a:lnSpc>
            </a:pPr>
            <a:r>
              <a:rPr sz="1200" b="0">
                <a:solidFill>
                  <a:srgbClr val="94A3B8"/>
                </a:solidFill>
                <a:latin typeface="Inter"/>
              </a:rPr>
              <a:t>per paper, dominated by Bedrock tokens. Repeat submissions are free via content-hash deduplication on GSI1.</a:t>
            </a:r>
          </a:p>
        </p:txBody>
      </p:sp>
      <p:cxnSp>
        <p:nvCxnSpPr>
          <p:cNvPr id="18" name="Connector 17"/>
          <p:cNvCxnSpPr/>
          <p:nvPr/>
        </p:nvCxnSpPr>
        <p:spPr>
          <a:xfrm>
            <a:off x="9144000" y="4191000"/>
            <a:ext cx="0" cy="4381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410700" y="4381500"/>
            <a:ext cx="3581400" cy="266700"/>
          </a:xfrm>
          <a:prstGeom prst="rect">
            <a:avLst/>
          </a:prstGeom>
          <a:noFill/>
        </p:spPr>
        <p:txBody>
          <a:bodyPr wrap="square" lIns="0" rIns="0" tIns="0" bIns="0" anchor="t">
            <a:spAutoFit/>
          </a:bodyPr>
          <a:lstStyle/>
          <a:p>
            <a:pPr algn="l"/>
            <a:r>
              <a:rPr sz="1000" b="1">
                <a:solidFill>
                  <a:srgbClr val="64748B"/>
                </a:solidFill>
                <a:latin typeface="JetBrains Mono"/>
              </a:rPr>
              <a:t>IDLE MONTHLY COST</a:t>
            </a:r>
          </a:p>
        </p:txBody>
      </p:sp>
      <p:sp>
        <p:nvSpPr>
          <p:cNvPr id="20" name="TextBox 19"/>
          <p:cNvSpPr txBox="1"/>
          <p:nvPr/>
        </p:nvSpPr>
        <p:spPr>
          <a:xfrm>
            <a:off x="9410700" y="4743450"/>
            <a:ext cx="3581400" cy="1333500"/>
          </a:xfrm>
          <a:prstGeom prst="rect">
            <a:avLst/>
          </a:prstGeom>
          <a:noFill/>
        </p:spPr>
        <p:txBody>
          <a:bodyPr wrap="square" lIns="0" rIns="0" tIns="0" bIns="0" anchor="t">
            <a:spAutoFit/>
          </a:bodyPr>
          <a:lstStyle/>
          <a:p>
            <a:pPr algn="l">
              <a:lnSpc>
                <a:spcPct val="100000"/>
              </a:lnSpc>
            </a:pPr>
            <a:r>
              <a:rPr sz="6400">
                <a:solidFill>
                  <a:srgbClr val="F1F5F9"/>
                </a:solidFill>
                <a:latin typeface="IBM Plex Serif"/>
              </a:rPr>
              <a:t>$0.00</a:t>
            </a:r>
            <a:r>
              <a:rPr sz="2400">
                <a:solidFill>
                  <a:srgbClr val="94A3B8"/>
                </a:solidFill>
                <a:latin typeface="IBM Plex Serif"/>
              </a:rPr>
              <a:t/>
            </a:r>
          </a:p>
        </p:txBody>
      </p:sp>
      <p:sp>
        <p:nvSpPr>
          <p:cNvPr id="21" name="TextBox 20"/>
          <p:cNvSpPr txBox="1"/>
          <p:nvPr/>
        </p:nvSpPr>
        <p:spPr>
          <a:xfrm>
            <a:off x="9410700" y="6477000"/>
            <a:ext cx="3581400" cy="2095500"/>
          </a:xfrm>
          <a:prstGeom prst="rect">
            <a:avLst/>
          </a:prstGeom>
          <a:noFill/>
        </p:spPr>
        <p:txBody>
          <a:bodyPr wrap="square" lIns="0" rIns="0" tIns="0" bIns="0" anchor="t">
            <a:spAutoFit/>
          </a:bodyPr>
          <a:lstStyle/>
          <a:p>
            <a:pPr algn="l">
              <a:lnSpc>
                <a:spcPct val="155000"/>
              </a:lnSpc>
            </a:pPr>
            <a:r>
              <a:rPr sz="1200" b="0">
                <a:solidFill>
                  <a:srgbClr val="94A3B8"/>
                </a:solidFill>
                <a:latin typeface="Inter"/>
              </a:rPr>
              <a:t>Every component except Bedrock fits the AWS free tier at our scale. No traffic, no bill. By design, not by accident.</a:t>
            </a:r>
          </a:p>
        </p:txBody>
      </p:sp>
      <p:cxnSp>
        <p:nvCxnSpPr>
          <p:cNvPr id="22" name="Connector 21"/>
          <p:cNvCxnSpPr/>
          <p:nvPr/>
        </p:nvCxnSpPr>
        <p:spPr>
          <a:xfrm>
            <a:off x="13258800" y="4191000"/>
            <a:ext cx="0" cy="43815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3525500" y="4381500"/>
            <a:ext cx="3581400" cy="266700"/>
          </a:xfrm>
          <a:prstGeom prst="rect">
            <a:avLst/>
          </a:prstGeom>
          <a:noFill/>
        </p:spPr>
        <p:txBody>
          <a:bodyPr wrap="square" lIns="0" rIns="0" tIns="0" bIns="0" anchor="t">
            <a:spAutoFit/>
          </a:bodyPr>
          <a:lstStyle/>
          <a:p>
            <a:pPr algn="l"/>
            <a:r>
              <a:rPr sz="1000" b="1">
                <a:solidFill>
                  <a:srgbClr val="64748B"/>
                </a:solidFill>
                <a:latin typeface="JetBrains Mono"/>
              </a:rPr>
              <a:t>DLQ MESSAGES</a:t>
            </a:r>
          </a:p>
        </p:txBody>
      </p:sp>
      <p:sp>
        <p:nvSpPr>
          <p:cNvPr id="24" name="TextBox 23"/>
          <p:cNvSpPr txBox="1"/>
          <p:nvPr/>
        </p:nvSpPr>
        <p:spPr>
          <a:xfrm>
            <a:off x="13525500" y="4743450"/>
            <a:ext cx="3581400" cy="1333500"/>
          </a:xfrm>
          <a:prstGeom prst="rect">
            <a:avLst/>
          </a:prstGeom>
          <a:noFill/>
        </p:spPr>
        <p:txBody>
          <a:bodyPr wrap="square" lIns="0" rIns="0" tIns="0" bIns="0" anchor="t">
            <a:spAutoFit/>
          </a:bodyPr>
          <a:lstStyle/>
          <a:p>
            <a:pPr algn="l">
              <a:lnSpc>
                <a:spcPct val="100000"/>
              </a:lnSpc>
            </a:pPr>
            <a:r>
              <a:rPr sz="6400">
                <a:solidFill>
                  <a:srgbClr val="F1F5F9"/>
                </a:solidFill>
                <a:latin typeface="IBM Plex Serif"/>
              </a:rPr>
              <a:t>0</a:t>
            </a:r>
            <a:r>
              <a:rPr sz="2400">
                <a:solidFill>
                  <a:srgbClr val="94A3B8"/>
                </a:solidFill>
                <a:latin typeface="IBM Plex Serif"/>
              </a:rPr>
              <a:t/>
            </a:r>
          </a:p>
        </p:txBody>
      </p:sp>
      <p:sp>
        <p:nvSpPr>
          <p:cNvPr id="25" name="TextBox 24"/>
          <p:cNvSpPr txBox="1"/>
          <p:nvPr/>
        </p:nvSpPr>
        <p:spPr>
          <a:xfrm>
            <a:off x="13525500" y="6477000"/>
            <a:ext cx="3581400" cy="2095500"/>
          </a:xfrm>
          <a:prstGeom prst="rect">
            <a:avLst/>
          </a:prstGeom>
          <a:noFill/>
        </p:spPr>
        <p:txBody>
          <a:bodyPr wrap="square" lIns="0" rIns="0" tIns="0" bIns="0" anchor="t">
            <a:spAutoFit/>
          </a:bodyPr>
          <a:lstStyle/>
          <a:p>
            <a:pPr algn="l">
              <a:lnSpc>
                <a:spcPct val="155000"/>
              </a:lnSpc>
            </a:pPr>
            <a:r>
              <a:rPr sz="1200" b="0">
                <a:solidFill>
                  <a:srgbClr val="94A3B8"/>
                </a:solidFill>
                <a:latin typeface="Inter"/>
              </a:rPr>
              <a:t>Messages stuck in the dead-letter queue across the deployment. Every failure surfaces with a cause string written to the JOB record.</a:t>
            </a:r>
          </a:p>
        </p:txBody>
      </p:sp>
      <p:cxnSp>
        <p:nvCxnSpPr>
          <p:cNvPr id="26" name="Connector 25"/>
          <p:cNvCxnSpPr/>
          <p:nvPr/>
        </p:nvCxnSpPr>
        <p:spPr>
          <a:xfrm>
            <a:off x="914400" y="8572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TextBox 1"/>
          <p:cNvSpPr txBox="1"/>
          <p:nvPr/>
        </p:nvSpPr>
        <p:spPr>
          <a:xfrm>
            <a:off x="533400" y="419100"/>
            <a:ext cx="17221200" cy="266700"/>
          </a:xfrm>
          <a:prstGeom prst="rect">
            <a:avLst/>
          </a:prstGeom>
          <a:noFill/>
        </p:spPr>
        <p:txBody>
          <a:bodyPr wrap="square" lIns="0" rIns="0" tIns="0" bIns="0" anchor="t">
            <a:spAutoFit/>
          </a:bodyPr>
          <a:lstStyle/>
          <a:p>
            <a:pPr algn="l"/>
            <a:r>
              <a:rPr sz="1000" b="1">
                <a:solidFill>
                  <a:srgbClr val="94A3B8"/>
                </a:solidFill>
                <a:latin typeface="JetBrains Mono"/>
              </a:rPr>
              <a:t>VII.  TEAM AND RESOURCES</a:t>
            </a:r>
          </a:p>
        </p:txBody>
      </p:sp>
      <p:sp>
        <p:nvSpPr>
          <p:cNvPr id="3" name="TextBox 2"/>
          <p:cNvSpPr txBox="1"/>
          <p:nvPr/>
        </p:nvSpPr>
        <p:spPr>
          <a:xfrm>
            <a:off x="533400" y="419100"/>
            <a:ext cx="17221200" cy="266700"/>
          </a:xfrm>
          <a:prstGeom prst="rect">
            <a:avLst/>
          </a:prstGeom>
          <a:noFill/>
        </p:spPr>
        <p:txBody>
          <a:bodyPr wrap="square" lIns="0" rIns="0" tIns="0" bIns="0" anchor="t">
            <a:spAutoFit/>
          </a:bodyPr>
          <a:lstStyle/>
          <a:p>
            <a:pPr algn="r"/>
            <a:r>
              <a:rPr sz="1000" b="1">
                <a:solidFill>
                  <a:srgbClr val="64748B"/>
                </a:solidFill>
                <a:latin typeface="JetBrains Mono"/>
              </a:rPr>
              <a:t>07 / 08</a:t>
            </a:r>
          </a:p>
        </p:txBody>
      </p:sp>
      <p:cxnSp>
        <p:nvCxnSpPr>
          <p:cNvPr id="4" name="Connector 3"/>
          <p:cNvCxnSpPr/>
          <p:nvPr/>
        </p:nvCxnSpPr>
        <p:spPr>
          <a:xfrm>
            <a:off x="533400" y="78105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3400" y="9753600"/>
            <a:ext cx="17221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3400" y="9810750"/>
            <a:ext cx="17221200" cy="190500"/>
          </a:xfrm>
          <a:prstGeom prst="rect">
            <a:avLst/>
          </a:prstGeom>
          <a:noFill/>
        </p:spPr>
        <p:txBody>
          <a:bodyPr wrap="square" lIns="0" rIns="0" tIns="0" bIns="0" anchor="t">
            <a:spAutoFit/>
          </a:bodyPr>
          <a:lstStyle/>
          <a:p>
            <a:pPr algn="l"/>
            <a:r>
              <a:rPr sz="900" b="1">
                <a:solidFill>
                  <a:srgbClr val="64748B"/>
                </a:solidFill>
                <a:latin typeface="JetBrains Mono"/>
              </a:rPr>
              <a:t>NYU CLOUD COMPUTING  •  SPRING 2026</a:t>
            </a:r>
          </a:p>
        </p:txBody>
      </p:sp>
      <p:sp>
        <p:nvSpPr>
          <p:cNvPr id="7" name="TextBox 6"/>
          <p:cNvSpPr txBox="1"/>
          <p:nvPr/>
        </p:nvSpPr>
        <p:spPr>
          <a:xfrm>
            <a:off x="533400" y="9810750"/>
            <a:ext cx="17221200" cy="190500"/>
          </a:xfrm>
          <a:prstGeom prst="rect">
            <a:avLst/>
          </a:prstGeom>
          <a:noFill/>
        </p:spPr>
        <p:txBody>
          <a:bodyPr wrap="square" lIns="0" rIns="0" tIns="0" bIns="0" anchor="t">
            <a:spAutoFit/>
          </a:bodyPr>
          <a:lstStyle/>
          <a:p>
            <a:pPr algn="r"/>
            <a:r>
              <a:rPr sz="900" b="1">
                <a:solidFill>
                  <a:srgbClr val="64748B"/>
                </a:solidFill>
                <a:latin typeface="JetBrains Mono"/>
              </a:rPr>
              <a:t>MISHRA  •  ZHENG  •  SANKPAL  •  HUANG</a:t>
            </a:r>
          </a:p>
        </p:txBody>
      </p:sp>
      <p:sp>
        <p:nvSpPr>
          <p:cNvPr id="8" name="TextBox 7"/>
          <p:cNvSpPr txBox="1"/>
          <p:nvPr/>
        </p:nvSpPr>
        <p:spPr>
          <a:xfrm>
            <a:off x="914400" y="1238250"/>
            <a:ext cx="16459200" cy="1524000"/>
          </a:xfrm>
          <a:prstGeom prst="rect">
            <a:avLst/>
          </a:prstGeom>
          <a:noFill/>
        </p:spPr>
        <p:txBody>
          <a:bodyPr wrap="square" lIns="0" rIns="0" tIns="0" bIns="0" anchor="t">
            <a:spAutoFit/>
          </a:bodyPr>
          <a:lstStyle/>
          <a:p>
            <a:pPr algn="l">
              <a:lnSpc>
                <a:spcPct val="110000"/>
              </a:lnSpc>
            </a:pPr>
            <a:r>
              <a:rPr sz="4000">
                <a:solidFill>
                  <a:srgbClr val="F1F5F9"/>
                </a:solidFill>
                <a:latin typeface="IBM Plex Serif"/>
              </a:rPr>
              <a:t>Built by four people, owned end to end.</a:t>
            </a:r>
          </a:p>
        </p:txBody>
      </p:sp>
      <p:cxnSp>
        <p:nvCxnSpPr>
          <p:cNvPr id="9" name="Connector 8"/>
          <p:cNvCxnSpPr/>
          <p:nvPr/>
        </p:nvCxnSpPr>
        <p:spPr>
          <a:xfrm>
            <a:off x="914400" y="2476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81100" y="2667000"/>
            <a:ext cx="7696200" cy="361950"/>
          </a:xfrm>
          <a:prstGeom prst="rect">
            <a:avLst/>
          </a:prstGeom>
          <a:noFill/>
        </p:spPr>
        <p:txBody>
          <a:bodyPr wrap="square" lIns="0" rIns="0" tIns="0" bIns="0" anchor="t">
            <a:spAutoFit/>
          </a:bodyPr>
          <a:lstStyle/>
          <a:p>
            <a:pPr algn="l">
              <a:lnSpc>
                <a:spcPct val="100000"/>
              </a:lnSpc>
            </a:pPr>
            <a:r>
              <a:rPr sz="2200">
                <a:solidFill>
                  <a:srgbClr val="F1F5F9"/>
                </a:solidFill>
                <a:latin typeface="IBM Plex Serif"/>
              </a:rPr>
              <a:t>Pranjal Mishra</a:t>
            </a:r>
          </a:p>
        </p:txBody>
      </p:sp>
      <p:sp>
        <p:nvSpPr>
          <p:cNvPr id="11" name="TextBox 10"/>
          <p:cNvSpPr txBox="1"/>
          <p:nvPr/>
        </p:nvSpPr>
        <p:spPr>
          <a:xfrm>
            <a:off x="1181100" y="3028950"/>
            <a:ext cx="7696200" cy="190500"/>
          </a:xfrm>
          <a:prstGeom prst="rect">
            <a:avLst/>
          </a:prstGeom>
          <a:noFill/>
        </p:spPr>
        <p:txBody>
          <a:bodyPr wrap="square" lIns="0" rIns="0" tIns="0" bIns="0" anchor="t">
            <a:spAutoFit/>
          </a:bodyPr>
          <a:lstStyle/>
          <a:p>
            <a:pPr algn="l"/>
            <a:r>
              <a:rPr sz="1000" b="1">
                <a:solidFill>
                  <a:srgbClr val="38BDF8"/>
                </a:solidFill>
                <a:latin typeface="JetBrains Mono"/>
              </a:rPr>
              <a:t>ARCHITECTURE, FRONTEND, RAG, OPS</a:t>
            </a:r>
          </a:p>
        </p:txBody>
      </p:sp>
      <p:sp>
        <p:nvSpPr>
          <p:cNvPr id="12" name="TextBox 11"/>
          <p:cNvSpPr txBox="1"/>
          <p:nvPr/>
        </p:nvSpPr>
        <p:spPr>
          <a:xfrm>
            <a:off x="1181100" y="3333750"/>
            <a:ext cx="7696200" cy="104775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Six CDK stacks, the Next.js frontend, the AWS Step Functions state machine, Amazon Bedrock integration, RAG chat with cited chunks, the knowledge graph extractor and visualization, the CloudWatch dashboard, four alarms, AWS X-Ray tracing, AWS Budgets, the deploy automation.</a:t>
            </a:r>
          </a:p>
        </p:txBody>
      </p:sp>
      <p:cxnSp>
        <p:nvCxnSpPr>
          <p:cNvPr id="13" name="Connector 12"/>
          <p:cNvCxnSpPr/>
          <p:nvPr/>
        </p:nvCxnSpPr>
        <p:spPr>
          <a:xfrm>
            <a:off x="9144000" y="2552700"/>
            <a:ext cx="0" cy="19431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410700" y="2667000"/>
            <a:ext cx="7696200" cy="361950"/>
          </a:xfrm>
          <a:prstGeom prst="rect">
            <a:avLst/>
          </a:prstGeom>
          <a:noFill/>
        </p:spPr>
        <p:txBody>
          <a:bodyPr wrap="square" lIns="0" rIns="0" tIns="0" bIns="0" anchor="t">
            <a:spAutoFit/>
          </a:bodyPr>
          <a:lstStyle/>
          <a:p>
            <a:pPr algn="l">
              <a:lnSpc>
                <a:spcPct val="100000"/>
              </a:lnSpc>
            </a:pPr>
            <a:r>
              <a:rPr sz="2200">
                <a:solidFill>
                  <a:srgbClr val="F1F5F9"/>
                </a:solidFill>
                <a:latin typeface="IBM Plex Serif"/>
              </a:rPr>
              <a:t>Yang Zheng</a:t>
            </a:r>
          </a:p>
        </p:txBody>
      </p:sp>
      <p:sp>
        <p:nvSpPr>
          <p:cNvPr id="15" name="TextBox 14"/>
          <p:cNvSpPr txBox="1"/>
          <p:nvPr/>
        </p:nvSpPr>
        <p:spPr>
          <a:xfrm>
            <a:off x="9410700" y="3028950"/>
            <a:ext cx="7696200" cy="190500"/>
          </a:xfrm>
          <a:prstGeom prst="rect">
            <a:avLst/>
          </a:prstGeom>
          <a:noFill/>
        </p:spPr>
        <p:txBody>
          <a:bodyPr wrap="square" lIns="0" rIns="0" tIns="0" bIns="0" anchor="t">
            <a:spAutoFit/>
          </a:bodyPr>
          <a:lstStyle/>
          <a:p>
            <a:pPr algn="l"/>
            <a:r>
              <a:rPr sz="1000" b="1">
                <a:solidFill>
                  <a:srgbClr val="38BDF8"/>
                </a:solidFill>
                <a:latin typeface="JetBrains Mono"/>
              </a:rPr>
              <a:t>SEARCH SERVICE</a:t>
            </a:r>
          </a:p>
        </p:txBody>
      </p:sp>
      <p:sp>
        <p:nvSpPr>
          <p:cNvPr id="16" name="TextBox 15"/>
          <p:cNvSpPr txBox="1"/>
          <p:nvPr/>
        </p:nvSpPr>
        <p:spPr>
          <a:xfrm>
            <a:off x="9410700" y="3333750"/>
            <a:ext cx="7696200" cy="104775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searchFn Lambda, the arXiv API client, the Atom XML parser, parameter validation with structured error handling, and 14 vitest unit tests covering query construction, Atom parsing, and handler edge cases.</a:t>
            </a:r>
          </a:p>
        </p:txBody>
      </p:sp>
      <p:sp>
        <p:nvSpPr>
          <p:cNvPr id="17" name="TextBox 16"/>
          <p:cNvSpPr txBox="1"/>
          <p:nvPr/>
        </p:nvSpPr>
        <p:spPr>
          <a:xfrm>
            <a:off x="1181100" y="4762500"/>
            <a:ext cx="7696200" cy="361950"/>
          </a:xfrm>
          <a:prstGeom prst="rect">
            <a:avLst/>
          </a:prstGeom>
          <a:noFill/>
        </p:spPr>
        <p:txBody>
          <a:bodyPr wrap="square" lIns="0" rIns="0" tIns="0" bIns="0" anchor="t">
            <a:spAutoFit/>
          </a:bodyPr>
          <a:lstStyle/>
          <a:p>
            <a:pPr algn="l">
              <a:lnSpc>
                <a:spcPct val="100000"/>
              </a:lnSpc>
            </a:pPr>
            <a:r>
              <a:rPr sz="2200">
                <a:solidFill>
                  <a:srgbClr val="F1F5F9"/>
                </a:solidFill>
                <a:latin typeface="IBM Plex Serif"/>
              </a:rPr>
              <a:t>Shreyas Sankpal</a:t>
            </a:r>
          </a:p>
        </p:txBody>
      </p:sp>
      <p:sp>
        <p:nvSpPr>
          <p:cNvPr id="18" name="TextBox 17"/>
          <p:cNvSpPr txBox="1"/>
          <p:nvPr/>
        </p:nvSpPr>
        <p:spPr>
          <a:xfrm>
            <a:off x="1181100" y="5124450"/>
            <a:ext cx="7696200" cy="190500"/>
          </a:xfrm>
          <a:prstGeom prst="rect">
            <a:avLst/>
          </a:prstGeom>
          <a:noFill/>
        </p:spPr>
        <p:txBody>
          <a:bodyPr wrap="square" lIns="0" rIns="0" tIns="0" bIns="0" anchor="t">
            <a:spAutoFit/>
          </a:bodyPr>
          <a:lstStyle/>
          <a:p>
            <a:pPr algn="l"/>
            <a:r>
              <a:rPr sz="1000" b="1">
                <a:solidFill>
                  <a:srgbClr val="38BDF8"/>
                </a:solidFill>
                <a:latin typeface="JetBrains Mono"/>
              </a:rPr>
              <a:t>PIPELINE ORCHESTRATION</a:t>
            </a:r>
          </a:p>
        </p:txBody>
      </p:sp>
      <p:sp>
        <p:nvSpPr>
          <p:cNvPr id="19" name="TextBox 18"/>
          <p:cNvSpPr txBox="1"/>
          <p:nvPr/>
        </p:nvSpPr>
        <p:spPr>
          <a:xfrm>
            <a:off x="1181100" y="5429250"/>
            <a:ext cx="7696200" cy="104775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Pipeline orchestration design discussions and chunking-strategy review for the map-reduce summarization stages.</a:t>
            </a:r>
          </a:p>
        </p:txBody>
      </p:sp>
      <p:cxnSp>
        <p:nvCxnSpPr>
          <p:cNvPr id="20" name="Connector 19"/>
          <p:cNvCxnSpPr/>
          <p:nvPr/>
        </p:nvCxnSpPr>
        <p:spPr>
          <a:xfrm>
            <a:off x="9144000" y="4648200"/>
            <a:ext cx="0" cy="194310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10700" y="4762500"/>
            <a:ext cx="7696200" cy="361950"/>
          </a:xfrm>
          <a:prstGeom prst="rect">
            <a:avLst/>
          </a:prstGeom>
          <a:noFill/>
        </p:spPr>
        <p:txBody>
          <a:bodyPr wrap="square" lIns="0" rIns="0" tIns="0" bIns="0" anchor="t">
            <a:spAutoFit/>
          </a:bodyPr>
          <a:lstStyle/>
          <a:p>
            <a:pPr algn="l">
              <a:lnSpc>
                <a:spcPct val="100000"/>
              </a:lnSpc>
            </a:pPr>
            <a:r>
              <a:rPr sz="2200">
                <a:solidFill>
                  <a:srgbClr val="F1F5F9"/>
                </a:solidFill>
                <a:latin typeface="IBM Plex Serif"/>
              </a:rPr>
              <a:t>Kerry Huang</a:t>
            </a:r>
          </a:p>
        </p:txBody>
      </p:sp>
      <p:sp>
        <p:nvSpPr>
          <p:cNvPr id="22" name="TextBox 21"/>
          <p:cNvSpPr txBox="1"/>
          <p:nvPr/>
        </p:nvSpPr>
        <p:spPr>
          <a:xfrm>
            <a:off x="9410700" y="5124450"/>
            <a:ext cx="7696200" cy="190500"/>
          </a:xfrm>
          <a:prstGeom prst="rect">
            <a:avLst/>
          </a:prstGeom>
          <a:noFill/>
        </p:spPr>
        <p:txBody>
          <a:bodyPr wrap="square" lIns="0" rIns="0" tIns="0" bIns="0" anchor="t">
            <a:spAutoFit/>
          </a:bodyPr>
          <a:lstStyle/>
          <a:p>
            <a:pPr algn="l"/>
            <a:r>
              <a:rPr sz="1000" b="1">
                <a:solidFill>
                  <a:srgbClr val="38BDF8"/>
                </a:solidFill>
                <a:latin typeface="JetBrains Mono"/>
              </a:rPr>
              <a:t>AUTHENTICATION AND API</a:t>
            </a:r>
          </a:p>
        </p:txBody>
      </p:sp>
      <p:sp>
        <p:nvSpPr>
          <p:cNvPr id="23" name="TextBox 22"/>
          <p:cNvSpPr txBox="1"/>
          <p:nvPr/>
        </p:nvSpPr>
        <p:spPr>
          <a:xfrm>
            <a:off x="9410700" y="5429250"/>
            <a:ext cx="7696200" cy="1047750"/>
          </a:xfrm>
          <a:prstGeom prst="rect">
            <a:avLst/>
          </a:prstGeom>
          <a:noFill/>
        </p:spPr>
        <p:txBody>
          <a:bodyPr wrap="square" lIns="0" rIns="0" tIns="0" bIns="0" anchor="t">
            <a:spAutoFit/>
          </a:bodyPr>
          <a:lstStyle/>
          <a:p>
            <a:pPr algn="l">
              <a:lnSpc>
                <a:spcPct val="155000"/>
              </a:lnSpc>
            </a:pPr>
            <a:r>
              <a:rPr sz="1300" b="0">
                <a:solidFill>
                  <a:srgbClr val="CBD5E1"/>
                </a:solidFill>
                <a:latin typeface="Inter"/>
              </a:rPr>
              <a:t>Authentication and API design discussions for the Amazon Cognito User Pool, the Secure Remote Password login flow, and the API Gateway authorizer surface.</a:t>
            </a:r>
          </a:p>
        </p:txBody>
      </p:sp>
      <p:cxnSp>
        <p:nvCxnSpPr>
          <p:cNvPr id="24" name="Connector 23"/>
          <p:cNvCxnSpPr/>
          <p:nvPr/>
        </p:nvCxnSpPr>
        <p:spPr>
          <a:xfrm>
            <a:off x="914400" y="6667500"/>
            <a:ext cx="16459200" cy="0"/>
          </a:xfrm>
          <a:prstGeom prst="line">
            <a:avLst/>
          </a:prstGeom>
          <a:ln w="9525">
            <a:solidFill>
              <a:srgbClr val="2B324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14400" y="7048500"/>
            <a:ext cx="16459200" cy="1143000"/>
          </a:xfrm>
          <a:prstGeom prst="rect">
            <a:avLst/>
          </a:prstGeom>
          <a:noFill/>
          <a:ln w="9525">
            <a:solidFill>
              <a:srgbClr val="2B3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7410450"/>
            <a:ext cx="8572500" cy="457200"/>
          </a:xfrm>
          <a:prstGeom prst="rect">
            <a:avLst/>
          </a:prstGeom>
          <a:noFill/>
        </p:spPr>
        <p:txBody>
          <a:bodyPr wrap="square" lIns="0" rIns="0" tIns="0" bIns="0" anchor="t">
            <a:spAutoFit/>
          </a:bodyPr>
          <a:lstStyle/>
          <a:p>
            <a:pPr algn="l"/>
            <a:r>
              <a:rPr sz="2200">
                <a:solidFill>
                  <a:srgbClr val="F1F5F9"/>
                </a:solidFill>
                <a:latin typeface="IBM Plex Serif"/>
              </a:rPr>
              <a:t>Thank you.  </a:t>
            </a:r>
            <a:r>
              <a:rPr sz="2200">
                <a:solidFill>
                  <a:srgbClr val="38BDF8"/>
                </a:solidFill>
                <a:latin typeface="IBM Plex Serif"/>
              </a:rPr>
              <a:t>Live demonstration follows.</a:t>
            </a:r>
          </a:p>
        </p:txBody>
      </p:sp>
      <p:sp>
        <p:nvSpPr>
          <p:cNvPr id="27" name="TextBox 26"/>
          <p:cNvSpPr txBox="1"/>
          <p:nvPr/>
        </p:nvSpPr>
        <p:spPr>
          <a:xfrm>
            <a:off x="10515600" y="7467600"/>
            <a:ext cx="6629400" cy="381000"/>
          </a:xfrm>
          <a:prstGeom prst="rect">
            <a:avLst/>
          </a:prstGeom>
          <a:noFill/>
        </p:spPr>
        <p:txBody>
          <a:bodyPr wrap="square" lIns="0" rIns="0" tIns="0" bIns="0" anchor="t">
            <a:spAutoFit/>
          </a:bodyPr>
          <a:lstStyle/>
          <a:p>
            <a:pPr algn="r"/>
            <a:r>
              <a:rPr sz="1200">
                <a:solidFill>
                  <a:srgbClr val="38BDF8"/>
                </a:solidFill>
                <a:latin typeface="JetBrains Mono"/>
              </a:rPr>
              <a:t>d24irdkbe9jj2b.cloudfront.net    •    github.com/pmxlr8/research-summarizer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