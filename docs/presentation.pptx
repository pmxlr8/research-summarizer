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built a serverless platform that searches academic repositories, downloads papers, and produces structured summaries using a large language model on Bedrock. Over the next five minutes we'll walk through the problem, the architecture, the asynchronous pipeline that does the heavy lifting, team contributions, and the numbers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user goals frame what we built. First — multi-source search across arXiv and Semantic Scholar, deduped, in a couple of seconds. Second — a structured summary with five named sections, returned in roughly half a minute. Third — grounded follow-ups: a chat panel that cites the paper's own chunks, plus a knowledge graph of entities and relationships. On top of that, a class-project operational constraint: managed AWS only, and zero cost when nothing's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deployed topology. CloudFront serves the Next.js static export from a private S3 bucket on the left. API Gateway in the middle is the only thing the user talks to dynamically — every route gates on a Cognito JWT before hitting any Lambda. The right side is the asynchronous pipeline: when a user submits a paper, the API writes to DynamoDB, drops a message on SQS, and returns a 202 in well under a second. A trigger Lambda picks up that message and starts a Step Functions execution that fetches the PDF, extracts text, chunks it, runs Bedrock in parallel over the chunks, and reduces back down to a single summary written to DynamoDB.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the most interesting design choice in the project. We chose Step Functions over a single fat Lambda for three reasons. First, Lambda has a hard 15-minute timeout — a long paper with parallel chunk summarization plus a reduction can blow past it. Second, Step Functions externalizes retry: if one chunk gets throttled by Bedrock, only that chunk retries while the others succeed once and only once. Third, the execution renders as a visual graph in the AWS console — invaluable when debugging. We also pass S3 keys, not text, between states to stay under the 256 KB Step Functions input limit. The MapSummarize state is highlighted because that's where we cap concurrency at 5 to stay under our Bedrock tokens-per-second 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run through the team. Pranjal led the architecture — every CDK stack, the Next.js frontend, the Step Functions design, the Bedrock integration, the RAG chat, the knowledge graph, and ops. Yang built searchFn — arXiv API client, Atom XML parser, structured error handling, and 14 vitest unit tests. Shreyas worked on pipeline and orchestration. Kerry covered authentication and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come from CloudWatch and DynamoDB on the live deployment. End-to-end summarization on a real arXiv paper completes in 27 to 50 seconds — the variance is driven by chunk count, since the parallel Map state caps wall-clock time at the slowest chunk. Marginal cost per paper is roughly twenty cents in Bedrock token usage. Idle cost is zero — when nobody's using the system, nothing's running, and the bill reflects that. The dead letter queue has stayed empty in production. We verified the complete user flow live: signup with Cognito email verification, SRP login, JWT-protected API calls, multi-source search, submit-and-poll, and the five-section structured summary. The retrieval-augmented features — chat, related papers, knowledge graph — all ship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 want to leave you with: a small piece of well-designed state — the chunk embeddings we compute once during the summarization pipeline — ends up supporting three different downstream features. The retrieval-grounded chat, the related-papers ranking, and the knowledge graph all run on the same vectors. Looking ahead, the natural next steps are a side-by-side PDF reader using pdfjs-dist, cross-paper comparison views, and streaming chat responses through Lambda Function URLs. On the cloud-engineering side, multi-region DR with DynamoDB global tables, AWS WAF, and a richer PDF parser like Grobid running on Fargate.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8680" y="1463040"/>
            <a:ext cx="10972800" cy="365760"/>
          </a:xfrm>
          <a:prstGeom prst="rect">
            <a:avLst/>
          </a:prstGeom>
          <a:noFill/>
          <a:ln/>
        </p:spPr>
        <p:txBody>
          <a:bodyPr wrap="square" lIns="0" tIns="0" rIns="0" bIns="0" rtlCol="0" anchor="ctr"/>
          <a:lstStyle/>
          <a:p>
            <a:pPr indent="0" marL="0">
              <a:buNone/>
            </a:pPr>
            <a:r>
              <a:rPr lang="en-US" sz="1200" b="1" spc="400" kern="0" dirty="0">
                <a:solidFill>
                  <a:srgbClr val="06B6D4"/>
                </a:solidFill>
                <a:latin typeface="Calibri" pitchFamily="34" charset="0"/>
                <a:ea typeface="Calibri" pitchFamily="34" charset="-122"/>
                <a:cs typeface="Calibri" pitchFamily="34" charset="-120"/>
              </a:rPr>
              <a:t>NYU CLOUD COMPUTING · SPRING 2026</a:t>
            </a:r>
            <a:endParaRPr lang="en-US" sz="1200" dirty="0"/>
          </a:p>
        </p:txBody>
      </p:sp>
      <p:sp>
        <p:nvSpPr>
          <p:cNvPr id="3" name="Text 1"/>
          <p:cNvSpPr/>
          <p:nvPr/>
        </p:nvSpPr>
        <p:spPr>
          <a:xfrm>
            <a:off x="640080" y="192024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Research Paper Summarizer</a:t>
            </a:r>
            <a:endParaRPr lang="en-US" sz="5400" dirty="0"/>
          </a:p>
        </p:txBody>
      </p:sp>
      <p:sp>
        <p:nvSpPr>
          <p:cNvPr id="4" name="Text 2"/>
          <p:cNvSpPr/>
          <p:nvPr/>
        </p:nvSpPr>
        <p:spPr>
          <a:xfrm>
            <a:off x="640080" y="3108960"/>
            <a:ext cx="10972800" cy="640080"/>
          </a:xfrm>
          <a:prstGeom prst="rect">
            <a:avLst/>
          </a:prstGeom>
          <a:noFill/>
          <a:ln/>
        </p:spPr>
        <p:txBody>
          <a:bodyPr wrap="square" lIns="0" tIns="0" rIns="0" bIns="0" rtlCol="0" anchor="ctr"/>
          <a:lstStyle/>
          <a:p>
            <a:pPr indent="0" marL="0">
              <a:buNone/>
            </a:pPr>
            <a:r>
              <a:rPr lang="en-US" sz="2400" dirty="0">
                <a:solidFill>
                  <a:srgbClr val="CBD5E1"/>
                </a:solidFill>
                <a:latin typeface="Calibri" pitchFamily="34" charset="0"/>
                <a:ea typeface="Calibri" pitchFamily="34" charset="-122"/>
                <a:cs typeface="Calibri" pitchFamily="34" charset="-120"/>
              </a:rPr>
              <a:t>A serverless, event-driven platform on AWS</a:t>
            </a:r>
            <a:endParaRPr lang="en-US" sz="2400" dirty="0"/>
          </a:p>
        </p:txBody>
      </p:sp>
      <p:sp>
        <p:nvSpPr>
          <p:cNvPr id="5" name="Shape 3"/>
          <p:cNvSpPr/>
          <p:nvPr/>
        </p:nvSpPr>
        <p:spPr>
          <a:xfrm>
            <a:off x="640080" y="1508760"/>
            <a:ext cx="54864" cy="274320"/>
          </a:xfrm>
          <a:prstGeom prst="rect">
            <a:avLst/>
          </a:prstGeom>
          <a:solidFill>
            <a:srgbClr val="06B6D4"/>
          </a:solidFill>
          <a:ln w="12700">
            <a:solidFill>
              <a:srgbClr val="06B6D4"/>
            </a:solidFill>
            <a:prstDash val="solid"/>
          </a:ln>
        </p:spPr>
      </p:sp>
      <p:sp>
        <p:nvSpPr>
          <p:cNvPr id="6" name="Text 4"/>
          <p:cNvSpPr/>
          <p:nvPr/>
        </p:nvSpPr>
        <p:spPr>
          <a:xfrm>
            <a:off x="640080" y="6035040"/>
            <a:ext cx="109728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Pranjal Mishra   ·   Yang Zheng   ·   Shreyas Sankpal   ·   Kerry Huang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problem</a:t>
            </a:r>
            <a:endParaRPr lang="en-US" sz="3200" dirty="0"/>
          </a:p>
        </p:txBody>
      </p:sp>
      <p:sp>
        <p:nvSpPr>
          <p:cNvPr id="3" name="Text 1"/>
          <p:cNvSpPr/>
          <p:nvPr/>
        </p:nvSpPr>
        <p:spPr>
          <a:xfrm>
            <a:off x="640080" y="1188720"/>
            <a:ext cx="10972800" cy="640080"/>
          </a:xfrm>
          <a:prstGeom prst="rect">
            <a:avLst/>
          </a:prstGeom>
          <a:noFill/>
          <a:ln/>
        </p:spPr>
        <p:txBody>
          <a:bodyPr wrap="square" lIns="0" tIns="0" rIns="0" bIns="0"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arXiv now indexes over 2.4 million preprints. Researchers can't read everything — they need a triage tool that does more than search.</a:t>
            </a:r>
            <a:endParaRPr lang="en-US" sz="1600" dirty="0"/>
          </a:p>
        </p:txBody>
      </p:sp>
      <p:sp>
        <p:nvSpPr>
          <p:cNvPr id="4" name="Shape 2"/>
          <p:cNvSpPr/>
          <p:nvPr/>
        </p:nvSpPr>
        <p:spPr>
          <a:xfrm>
            <a:off x="640080" y="2194560"/>
            <a:ext cx="3657600" cy="2743200"/>
          </a:xfrm>
          <a:prstGeom prst="rect">
            <a:avLst/>
          </a:prstGeom>
          <a:solidFill>
            <a:srgbClr val="F8FAFC"/>
          </a:solidFill>
          <a:ln w="12700">
            <a:solidFill>
              <a:srgbClr val="E2E8F0"/>
            </a:solidFill>
            <a:prstDash val="solid"/>
          </a:ln>
        </p:spPr>
      </p:sp>
      <p:sp>
        <p:nvSpPr>
          <p:cNvPr id="5" name="Text 3"/>
          <p:cNvSpPr/>
          <p:nvPr/>
        </p:nvSpPr>
        <p:spPr>
          <a:xfrm>
            <a:off x="914400" y="2423160"/>
            <a:ext cx="1371600" cy="640080"/>
          </a:xfrm>
          <a:prstGeom prst="rect">
            <a:avLst/>
          </a:prstGeom>
          <a:noFill/>
          <a:ln/>
        </p:spPr>
        <p:txBody>
          <a:bodyPr wrap="square" lIns="0" tIns="0" rIns="0" bIns="0" rtlCol="0" anchor="ctr"/>
          <a:lstStyle/>
          <a:p>
            <a:pPr indent="0" marL="0">
              <a:buNone/>
            </a:pPr>
            <a:r>
              <a:rPr lang="en-US" sz="3600" b="1" dirty="0">
                <a:solidFill>
                  <a:srgbClr val="06B6D4"/>
                </a:solidFill>
                <a:latin typeface="Calibri" pitchFamily="34" charset="0"/>
                <a:ea typeface="Calibri" pitchFamily="34" charset="-122"/>
                <a:cs typeface="Calibri" pitchFamily="34" charset="-120"/>
              </a:rPr>
              <a:t>01</a:t>
            </a:r>
            <a:endParaRPr lang="en-US" sz="3600" dirty="0"/>
          </a:p>
        </p:txBody>
      </p:sp>
      <p:sp>
        <p:nvSpPr>
          <p:cNvPr id="6" name="Text 4"/>
          <p:cNvSpPr/>
          <p:nvPr/>
        </p:nvSpPr>
        <p:spPr>
          <a:xfrm>
            <a:off x="914400" y="3154680"/>
            <a:ext cx="310896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Multi-source search</a:t>
            </a:r>
            <a:endParaRPr lang="en-US" sz="1800" dirty="0"/>
          </a:p>
        </p:txBody>
      </p:sp>
      <p:sp>
        <p:nvSpPr>
          <p:cNvPr id="7" name="Text 5"/>
          <p:cNvSpPr/>
          <p:nvPr/>
        </p:nvSpPr>
        <p:spPr>
          <a:xfrm>
            <a:off x="914400" y="3657600"/>
            <a:ext cx="3108960" cy="11887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Ranked papers from arXiv and Semantic Scholar in 1–2 seconds, deduped by arxivId, DOI, and normalized title.</a:t>
            </a:r>
            <a:endParaRPr lang="en-US" sz="1300" dirty="0"/>
          </a:p>
        </p:txBody>
      </p:sp>
      <p:sp>
        <p:nvSpPr>
          <p:cNvPr id="8" name="Shape 6"/>
          <p:cNvSpPr/>
          <p:nvPr/>
        </p:nvSpPr>
        <p:spPr>
          <a:xfrm>
            <a:off x="4572000" y="2194560"/>
            <a:ext cx="3657600" cy="2743200"/>
          </a:xfrm>
          <a:prstGeom prst="rect">
            <a:avLst/>
          </a:prstGeom>
          <a:solidFill>
            <a:srgbClr val="F8FAFC"/>
          </a:solidFill>
          <a:ln w="12700">
            <a:solidFill>
              <a:srgbClr val="E2E8F0"/>
            </a:solidFill>
            <a:prstDash val="solid"/>
          </a:ln>
        </p:spPr>
      </p:sp>
      <p:sp>
        <p:nvSpPr>
          <p:cNvPr id="9" name="Text 7"/>
          <p:cNvSpPr/>
          <p:nvPr/>
        </p:nvSpPr>
        <p:spPr>
          <a:xfrm>
            <a:off x="4846320" y="2423160"/>
            <a:ext cx="1371600" cy="640080"/>
          </a:xfrm>
          <a:prstGeom prst="rect">
            <a:avLst/>
          </a:prstGeom>
          <a:noFill/>
          <a:ln/>
        </p:spPr>
        <p:txBody>
          <a:bodyPr wrap="square" lIns="0" tIns="0" rIns="0" bIns="0" rtlCol="0" anchor="ctr"/>
          <a:lstStyle/>
          <a:p>
            <a:pPr indent="0" marL="0">
              <a:buNone/>
            </a:pPr>
            <a:r>
              <a:rPr lang="en-US" sz="3600" b="1" dirty="0">
                <a:solidFill>
                  <a:srgbClr val="06B6D4"/>
                </a:solidFill>
                <a:latin typeface="Calibri" pitchFamily="34" charset="0"/>
                <a:ea typeface="Calibri" pitchFamily="34" charset="-122"/>
                <a:cs typeface="Calibri" pitchFamily="34" charset="-120"/>
              </a:rPr>
              <a:t>02</a:t>
            </a:r>
            <a:endParaRPr lang="en-US" sz="3600" dirty="0"/>
          </a:p>
        </p:txBody>
      </p:sp>
      <p:sp>
        <p:nvSpPr>
          <p:cNvPr id="10" name="Text 8"/>
          <p:cNvSpPr/>
          <p:nvPr/>
        </p:nvSpPr>
        <p:spPr>
          <a:xfrm>
            <a:off x="4846320" y="3154680"/>
            <a:ext cx="310896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Structured summary</a:t>
            </a:r>
            <a:endParaRPr lang="en-US" sz="1800" dirty="0"/>
          </a:p>
        </p:txBody>
      </p:sp>
      <p:sp>
        <p:nvSpPr>
          <p:cNvPr id="11" name="Text 9"/>
          <p:cNvSpPr/>
          <p:nvPr/>
        </p:nvSpPr>
        <p:spPr>
          <a:xfrm>
            <a:off x="4846320" y="3657600"/>
            <a:ext cx="3108960" cy="11887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Five sections — objectives, methodology, results, limitations, contributions — produced asynchronously in roughly 30 seconds.</a:t>
            </a:r>
            <a:endParaRPr lang="en-US" sz="1300" dirty="0"/>
          </a:p>
        </p:txBody>
      </p:sp>
      <p:sp>
        <p:nvSpPr>
          <p:cNvPr id="12" name="Shape 10"/>
          <p:cNvSpPr/>
          <p:nvPr/>
        </p:nvSpPr>
        <p:spPr>
          <a:xfrm>
            <a:off x="8503920" y="2194560"/>
            <a:ext cx="3657600" cy="2743200"/>
          </a:xfrm>
          <a:prstGeom prst="rect">
            <a:avLst/>
          </a:prstGeom>
          <a:solidFill>
            <a:srgbClr val="F8FAFC"/>
          </a:solidFill>
          <a:ln w="12700">
            <a:solidFill>
              <a:srgbClr val="E2E8F0"/>
            </a:solidFill>
            <a:prstDash val="solid"/>
          </a:ln>
        </p:spPr>
      </p:sp>
      <p:sp>
        <p:nvSpPr>
          <p:cNvPr id="13" name="Text 11"/>
          <p:cNvSpPr/>
          <p:nvPr/>
        </p:nvSpPr>
        <p:spPr>
          <a:xfrm>
            <a:off x="8778240" y="2423160"/>
            <a:ext cx="1371600" cy="640080"/>
          </a:xfrm>
          <a:prstGeom prst="rect">
            <a:avLst/>
          </a:prstGeom>
          <a:noFill/>
          <a:ln/>
        </p:spPr>
        <p:txBody>
          <a:bodyPr wrap="square" lIns="0" tIns="0" rIns="0" bIns="0" rtlCol="0" anchor="ctr"/>
          <a:lstStyle/>
          <a:p>
            <a:pPr indent="0" marL="0">
              <a:buNone/>
            </a:pPr>
            <a:r>
              <a:rPr lang="en-US" sz="3600" b="1" dirty="0">
                <a:solidFill>
                  <a:srgbClr val="06B6D4"/>
                </a:solidFill>
                <a:latin typeface="Calibri" pitchFamily="34" charset="0"/>
                <a:ea typeface="Calibri" pitchFamily="34" charset="-122"/>
                <a:cs typeface="Calibri" pitchFamily="34" charset="-120"/>
              </a:rPr>
              <a:t>03</a:t>
            </a:r>
            <a:endParaRPr lang="en-US" sz="3600" dirty="0"/>
          </a:p>
        </p:txBody>
      </p:sp>
      <p:sp>
        <p:nvSpPr>
          <p:cNvPr id="14" name="Text 12"/>
          <p:cNvSpPr/>
          <p:nvPr/>
        </p:nvSpPr>
        <p:spPr>
          <a:xfrm>
            <a:off x="8778240" y="3154680"/>
            <a:ext cx="310896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Grounded follow-ups</a:t>
            </a:r>
            <a:endParaRPr lang="en-US" sz="1800" dirty="0"/>
          </a:p>
        </p:txBody>
      </p:sp>
      <p:sp>
        <p:nvSpPr>
          <p:cNvPr id="15" name="Text 13"/>
          <p:cNvSpPr/>
          <p:nvPr/>
        </p:nvSpPr>
        <p:spPr>
          <a:xfrm>
            <a:off x="8778240" y="3657600"/>
            <a:ext cx="3108960" cy="11887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Talk-to-PDF chat with retrieval-augmented citations against the paper's own chunks, plus a knowledge graph of typed entities.</a:t>
            </a:r>
            <a:endParaRPr lang="en-US" sz="1300" dirty="0"/>
          </a:p>
        </p:txBody>
      </p:sp>
      <p:sp>
        <p:nvSpPr>
          <p:cNvPr id="16" name="Text 14"/>
          <p:cNvSpPr/>
          <p:nvPr/>
        </p:nvSpPr>
        <p:spPr>
          <a:xfrm>
            <a:off x="640080" y="5486400"/>
            <a:ext cx="1097280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Operational constraint: AWS managed services only · zero idle cost · reproducible from infrastructure-as-code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54864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Architecture</a:t>
            </a:r>
            <a:endParaRPr lang="en-US" sz="3200" dirty="0"/>
          </a:p>
        </p:txBody>
      </p:sp>
      <p:sp>
        <p:nvSpPr>
          <p:cNvPr id="3" name="Text 1"/>
          <p:cNvSpPr/>
          <p:nvPr/>
        </p:nvSpPr>
        <p:spPr>
          <a:xfrm>
            <a:off x="640080" y="914400"/>
            <a:ext cx="1097280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15 single-purpose Lambdas · CDK in TypeScript · all communication via API Gateway, SQS, or Step Functions</a:t>
            </a:r>
            <a:endParaRPr lang="en-US" sz="1300" dirty="0"/>
          </a:p>
        </p:txBody>
      </p:sp>
      <p:pic>
        <p:nvPicPr>
          <p:cNvPr id="4" name="Image 0" descr="/home/claude/deck/architecture.png">    </p:cNvPr>
          <p:cNvPicPr>
            <a:picLocks noChangeAspect="1"/>
          </p:cNvPicPr>
          <p:nvPr/>
        </p:nvPicPr>
        <p:blipFill>
          <a:blip r:embed="rId1"/>
          <a:stretch>
            <a:fillRect/>
          </a:stretch>
        </p:blipFill>
        <p:spPr>
          <a:xfrm>
            <a:off x="1854200" y="1417320"/>
            <a:ext cx="8453120" cy="4754880"/>
          </a:xfrm>
          <a:prstGeom prst="rect">
            <a:avLst/>
          </a:prstGeom>
        </p:spPr>
      </p:pic>
      <p:sp>
        <p:nvSpPr>
          <p:cNvPr id="5" name="Text 2"/>
          <p:cNvSpPr/>
          <p:nvPr/>
        </p:nvSpPr>
        <p:spPr>
          <a:xfrm>
            <a:off x="640080" y="6263640"/>
            <a:ext cx="3657600" cy="36576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Edge </a:t>
            </a:r>
            <a:pPr indent="0" marL="0">
              <a:buNone/>
            </a:pPr>
            <a:r>
              <a:rPr lang="en-US" sz="1100" dirty="0">
                <a:solidFill>
                  <a:srgbClr val="64748B"/>
                </a:solidFill>
                <a:latin typeface="Calibri" pitchFamily="34" charset="0"/>
                <a:ea typeface="Calibri" pitchFamily="34" charset="-122"/>
                <a:cs typeface="Calibri" pitchFamily="34" charset="-120"/>
              </a:rPr>
              <a:t>CloudFront → S3 (frontend) · OAC private bucket</a:t>
            </a:r>
            <a:endParaRPr lang="en-US" sz="1100" dirty="0"/>
          </a:p>
        </p:txBody>
      </p:sp>
      <p:sp>
        <p:nvSpPr>
          <p:cNvPr id="6" name="Text 3"/>
          <p:cNvSpPr/>
          <p:nvPr/>
        </p:nvSpPr>
        <p:spPr>
          <a:xfrm>
            <a:off x="4572000" y="6263640"/>
            <a:ext cx="3657600" cy="36576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Sync API </a:t>
            </a:r>
            <a:pPr indent="0" marL="0">
              <a:buNone/>
            </a:pPr>
            <a:r>
              <a:rPr lang="en-US" sz="1100" dirty="0">
                <a:solidFill>
                  <a:srgbClr val="64748B"/>
                </a:solidFill>
                <a:latin typeface="Calibri" pitchFamily="34" charset="0"/>
                <a:ea typeface="Calibri" pitchFamily="34" charset="-122"/>
                <a:cs typeface="Calibri" pitchFamily="34" charset="-120"/>
              </a:rPr>
              <a:t>Cognito JWT → API Gateway → 9 handler Lambdas</a:t>
            </a:r>
            <a:endParaRPr lang="en-US" sz="1100" dirty="0"/>
          </a:p>
        </p:txBody>
      </p:sp>
      <p:sp>
        <p:nvSpPr>
          <p:cNvPr id="7" name="Text 4"/>
          <p:cNvSpPr/>
          <p:nvPr/>
        </p:nvSpPr>
        <p:spPr>
          <a:xfrm>
            <a:off x="8503920" y="6263640"/>
            <a:ext cx="3657600" cy="365760"/>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Async </a:t>
            </a:r>
            <a:pPr indent="0" marL="0">
              <a:buNone/>
            </a:pPr>
            <a:r>
              <a:rPr lang="en-US" sz="1100" dirty="0">
                <a:solidFill>
                  <a:srgbClr val="64748B"/>
                </a:solidFill>
                <a:latin typeface="Calibri" pitchFamily="34" charset="0"/>
                <a:ea typeface="Calibri" pitchFamily="34" charset="-122"/>
                <a:cs typeface="Calibri" pitchFamily="34" charset="-120"/>
              </a:rPr>
              <a:t>SQS → Step Functions → 5-state map-reduce pipeline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Why Step Functions, not one big Lambda</a:t>
            </a:r>
            <a:endParaRPr lang="en-US" sz="3000" dirty="0"/>
          </a:p>
        </p:txBody>
      </p:sp>
      <p:sp>
        <p:nvSpPr>
          <p:cNvPr id="3" name="Shape 1"/>
          <p:cNvSpPr/>
          <p:nvPr/>
        </p:nvSpPr>
        <p:spPr>
          <a:xfrm>
            <a:off x="1165860" y="1554480"/>
            <a:ext cx="1783080" cy="731520"/>
          </a:xfrm>
          <a:prstGeom prst="rect">
            <a:avLst/>
          </a:prstGeom>
          <a:solidFill>
            <a:srgbClr val="0F172A"/>
          </a:solidFill>
          <a:ln w="12700">
            <a:solidFill>
              <a:srgbClr val="0F172A"/>
            </a:solidFill>
            <a:prstDash val="solid"/>
          </a:ln>
        </p:spPr>
      </p:sp>
      <p:sp>
        <p:nvSpPr>
          <p:cNvPr id="4" name="Text 2"/>
          <p:cNvSpPr/>
          <p:nvPr/>
        </p:nvSpPr>
        <p:spPr>
          <a:xfrm>
            <a:off x="1165860" y="1554480"/>
            <a:ext cx="17830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FetchPDF</a:t>
            </a:r>
            <a:endParaRPr lang="en-US" sz="1400" dirty="0"/>
          </a:p>
        </p:txBody>
      </p:sp>
      <p:sp>
        <p:nvSpPr>
          <p:cNvPr id="5" name="Text 3"/>
          <p:cNvSpPr/>
          <p:nvPr/>
        </p:nvSpPr>
        <p:spPr>
          <a:xfrm>
            <a:off x="2967228" y="1554480"/>
            <a:ext cx="192024" cy="731520"/>
          </a:xfrm>
          <a:prstGeom prst="rect">
            <a:avLst/>
          </a:prstGeom>
          <a:noFill/>
          <a:ln/>
        </p:spPr>
        <p:txBody>
          <a:bodyPr wrap="square" lIns="0" tIns="0" rIns="0" bIns="0" rtlCol="0" anchor="ctr"/>
          <a:lstStyle/>
          <a:p>
            <a:pPr algn="ctr" indent="0" marL="0">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6" name="Shape 4"/>
          <p:cNvSpPr/>
          <p:nvPr/>
        </p:nvSpPr>
        <p:spPr>
          <a:xfrm>
            <a:off x="3177540" y="1554480"/>
            <a:ext cx="1783080" cy="731520"/>
          </a:xfrm>
          <a:prstGeom prst="rect">
            <a:avLst/>
          </a:prstGeom>
          <a:solidFill>
            <a:srgbClr val="0F172A"/>
          </a:solidFill>
          <a:ln w="12700">
            <a:solidFill>
              <a:srgbClr val="0F172A"/>
            </a:solidFill>
            <a:prstDash val="solid"/>
          </a:ln>
        </p:spPr>
      </p:sp>
      <p:sp>
        <p:nvSpPr>
          <p:cNvPr id="7" name="Text 5"/>
          <p:cNvSpPr/>
          <p:nvPr/>
        </p:nvSpPr>
        <p:spPr>
          <a:xfrm>
            <a:off x="3177540" y="1554480"/>
            <a:ext cx="17830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ExtractText</a:t>
            </a:r>
            <a:endParaRPr lang="en-US" sz="1400" dirty="0"/>
          </a:p>
        </p:txBody>
      </p:sp>
      <p:sp>
        <p:nvSpPr>
          <p:cNvPr id="8" name="Text 6"/>
          <p:cNvSpPr/>
          <p:nvPr/>
        </p:nvSpPr>
        <p:spPr>
          <a:xfrm>
            <a:off x="4978908" y="1554480"/>
            <a:ext cx="192024" cy="731520"/>
          </a:xfrm>
          <a:prstGeom prst="rect">
            <a:avLst/>
          </a:prstGeom>
          <a:noFill/>
          <a:ln/>
        </p:spPr>
        <p:txBody>
          <a:bodyPr wrap="square" lIns="0" tIns="0" rIns="0" bIns="0" rtlCol="0" anchor="ctr"/>
          <a:lstStyle/>
          <a:p>
            <a:pPr algn="ctr" indent="0" marL="0">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5189220" y="1554480"/>
            <a:ext cx="1783080" cy="731520"/>
          </a:xfrm>
          <a:prstGeom prst="rect">
            <a:avLst/>
          </a:prstGeom>
          <a:solidFill>
            <a:srgbClr val="0F172A"/>
          </a:solidFill>
          <a:ln w="12700">
            <a:solidFill>
              <a:srgbClr val="0F172A"/>
            </a:solidFill>
            <a:prstDash val="solid"/>
          </a:ln>
        </p:spPr>
      </p:sp>
      <p:sp>
        <p:nvSpPr>
          <p:cNvPr id="10" name="Text 8"/>
          <p:cNvSpPr/>
          <p:nvPr/>
        </p:nvSpPr>
        <p:spPr>
          <a:xfrm>
            <a:off x="5189220" y="1554480"/>
            <a:ext cx="17830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Chunk</a:t>
            </a:r>
            <a:endParaRPr lang="en-US" sz="1400" dirty="0"/>
          </a:p>
        </p:txBody>
      </p:sp>
      <p:sp>
        <p:nvSpPr>
          <p:cNvPr id="11" name="Text 9"/>
          <p:cNvSpPr/>
          <p:nvPr/>
        </p:nvSpPr>
        <p:spPr>
          <a:xfrm>
            <a:off x="6990588" y="1554480"/>
            <a:ext cx="192024" cy="731520"/>
          </a:xfrm>
          <a:prstGeom prst="rect">
            <a:avLst/>
          </a:prstGeom>
          <a:noFill/>
          <a:ln/>
        </p:spPr>
        <p:txBody>
          <a:bodyPr wrap="square" lIns="0" tIns="0" rIns="0" bIns="0" rtlCol="0" anchor="ctr"/>
          <a:lstStyle/>
          <a:p>
            <a:pPr algn="ctr" indent="0" marL="0">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7200900" y="1554480"/>
            <a:ext cx="1783080" cy="731520"/>
          </a:xfrm>
          <a:prstGeom prst="rect">
            <a:avLst/>
          </a:prstGeom>
          <a:solidFill>
            <a:srgbClr val="06B6D4"/>
          </a:solidFill>
          <a:ln w="12700">
            <a:solidFill>
              <a:srgbClr val="0F172A"/>
            </a:solidFill>
            <a:prstDash val="solid"/>
          </a:ln>
        </p:spPr>
      </p:sp>
      <p:sp>
        <p:nvSpPr>
          <p:cNvPr id="13" name="Text 11"/>
          <p:cNvSpPr/>
          <p:nvPr/>
        </p:nvSpPr>
        <p:spPr>
          <a:xfrm>
            <a:off x="7200900" y="1554480"/>
            <a:ext cx="17830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MapSummarize</a:t>
            </a:r>
            <a:endParaRPr lang="en-US" sz="1400" dirty="0"/>
          </a:p>
        </p:txBody>
      </p:sp>
      <p:sp>
        <p:nvSpPr>
          <p:cNvPr id="14" name="Text 12"/>
          <p:cNvSpPr/>
          <p:nvPr/>
        </p:nvSpPr>
        <p:spPr>
          <a:xfrm>
            <a:off x="9002268" y="1554480"/>
            <a:ext cx="192024" cy="731520"/>
          </a:xfrm>
          <a:prstGeom prst="rect">
            <a:avLst/>
          </a:prstGeom>
          <a:noFill/>
          <a:ln/>
        </p:spPr>
        <p:txBody>
          <a:bodyPr wrap="square" lIns="0" tIns="0" rIns="0" bIns="0" rtlCol="0" anchor="ctr"/>
          <a:lstStyle/>
          <a:p>
            <a:pPr algn="ctr" indent="0" marL="0">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9212580" y="1554480"/>
            <a:ext cx="1783080" cy="731520"/>
          </a:xfrm>
          <a:prstGeom prst="rect">
            <a:avLst/>
          </a:prstGeom>
          <a:solidFill>
            <a:srgbClr val="0F172A"/>
          </a:solidFill>
          <a:ln w="12700">
            <a:solidFill>
              <a:srgbClr val="0F172A"/>
            </a:solidFill>
            <a:prstDash val="solid"/>
          </a:ln>
        </p:spPr>
      </p:sp>
      <p:sp>
        <p:nvSpPr>
          <p:cNvPr id="16" name="Text 14"/>
          <p:cNvSpPr/>
          <p:nvPr/>
        </p:nvSpPr>
        <p:spPr>
          <a:xfrm>
            <a:off x="9212580" y="1554480"/>
            <a:ext cx="17830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ReduceSummary</a:t>
            </a:r>
            <a:endParaRPr lang="en-US" sz="1400" dirty="0"/>
          </a:p>
        </p:txBody>
      </p:sp>
      <p:sp>
        <p:nvSpPr>
          <p:cNvPr id="17" name="Text 15"/>
          <p:cNvSpPr/>
          <p:nvPr/>
        </p:nvSpPr>
        <p:spPr>
          <a:xfrm>
            <a:off x="6926580" y="2331720"/>
            <a:ext cx="2331720" cy="274320"/>
          </a:xfrm>
          <a:prstGeom prst="rect">
            <a:avLst/>
          </a:prstGeom>
          <a:noFill/>
          <a:ln/>
        </p:spPr>
        <p:txBody>
          <a:bodyPr wrap="square" lIns="0" tIns="0" rIns="0" bIns="0" rtlCol="0" anchor="ctr"/>
          <a:lstStyle/>
          <a:p>
            <a:pPr algn="ctr" indent="0" marL="0">
              <a:buNone/>
            </a:pPr>
            <a:r>
              <a:rPr lang="en-US" sz="1000" i="1" dirty="0">
                <a:solidFill>
                  <a:srgbClr val="0891B2"/>
                </a:solidFill>
                <a:latin typeface="Calibri" pitchFamily="34" charset="0"/>
                <a:ea typeface="Calibri" pitchFamily="34" charset="-122"/>
                <a:cs typeface="Calibri" pitchFamily="34" charset="-120"/>
              </a:rPr>
              <a:t>parallel · capped at 5 concurrent</a:t>
            </a:r>
            <a:endParaRPr lang="en-US" sz="1000" dirty="0"/>
          </a:p>
        </p:txBody>
      </p:sp>
      <p:sp>
        <p:nvSpPr>
          <p:cNvPr id="18" name="Shape 16"/>
          <p:cNvSpPr/>
          <p:nvPr/>
        </p:nvSpPr>
        <p:spPr>
          <a:xfrm>
            <a:off x="640080" y="3291840"/>
            <a:ext cx="45720" cy="2194560"/>
          </a:xfrm>
          <a:prstGeom prst="rect">
            <a:avLst/>
          </a:prstGeom>
          <a:solidFill>
            <a:srgbClr val="06B6D4"/>
          </a:solidFill>
          <a:ln w="12700">
            <a:solidFill>
              <a:srgbClr val="06B6D4"/>
            </a:solidFill>
            <a:prstDash val="solid"/>
          </a:ln>
        </p:spPr>
      </p:sp>
      <p:sp>
        <p:nvSpPr>
          <p:cNvPr id="19" name="Text 17"/>
          <p:cNvSpPr/>
          <p:nvPr/>
        </p:nvSpPr>
        <p:spPr>
          <a:xfrm>
            <a:off x="822960" y="3337560"/>
            <a:ext cx="347472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15-minute Lambda ceiling</a:t>
            </a:r>
            <a:endParaRPr lang="en-US" sz="1600" dirty="0"/>
          </a:p>
        </p:txBody>
      </p:sp>
      <p:sp>
        <p:nvSpPr>
          <p:cNvPr id="20" name="Text 18"/>
          <p:cNvSpPr/>
          <p:nvPr/>
        </p:nvSpPr>
        <p:spPr>
          <a:xfrm>
            <a:off x="822960" y="3794760"/>
            <a:ext cx="3474720" cy="16459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 30-page paper with 12 parallel chunks plus reduction can blow past it. Step Functions has no such limit.</a:t>
            </a:r>
            <a:endParaRPr lang="en-US" sz="1300" dirty="0"/>
          </a:p>
        </p:txBody>
      </p:sp>
      <p:sp>
        <p:nvSpPr>
          <p:cNvPr id="21" name="Shape 19"/>
          <p:cNvSpPr/>
          <p:nvPr/>
        </p:nvSpPr>
        <p:spPr>
          <a:xfrm>
            <a:off x="4572000" y="3291840"/>
            <a:ext cx="45720" cy="2194560"/>
          </a:xfrm>
          <a:prstGeom prst="rect">
            <a:avLst/>
          </a:prstGeom>
          <a:solidFill>
            <a:srgbClr val="06B6D4"/>
          </a:solidFill>
          <a:ln w="12700">
            <a:solidFill>
              <a:srgbClr val="06B6D4"/>
            </a:solidFill>
            <a:prstDash val="solid"/>
          </a:ln>
        </p:spPr>
      </p:sp>
      <p:sp>
        <p:nvSpPr>
          <p:cNvPr id="22" name="Text 20"/>
          <p:cNvSpPr/>
          <p:nvPr/>
        </p:nvSpPr>
        <p:spPr>
          <a:xfrm>
            <a:off x="4754880" y="3337560"/>
            <a:ext cx="347472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Per-chunk retry, not whole-job</a:t>
            </a:r>
            <a:endParaRPr lang="en-US" sz="1600" dirty="0"/>
          </a:p>
        </p:txBody>
      </p:sp>
      <p:sp>
        <p:nvSpPr>
          <p:cNvPr id="23" name="Text 21"/>
          <p:cNvSpPr/>
          <p:nvPr/>
        </p:nvSpPr>
        <p:spPr>
          <a:xfrm>
            <a:off x="4754880" y="3794760"/>
            <a:ext cx="3474720" cy="16459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If one chunk's Bedrock call is throttled, that chunk retries with backoff — the other 11 succeed once and only once.</a:t>
            </a:r>
            <a:endParaRPr lang="en-US" sz="1300" dirty="0"/>
          </a:p>
        </p:txBody>
      </p:sp>
      <p:sp>
        <p:nvSpPr>
          <p:cNvPr id="24" name="Shape 22"/>
          <p:cNvSpPr/>
          <p:nvPr/>
        </p:nvSpPr>
        <p:spPr>
          <a:xfrm>
            <a:off x="8503920" y="3291840"/>
            <a:ext cx="45720" cy="2194560"/>
          </a:xfrm>
          <a:prstGeom prst="rect">
            <a:avLst/>
          </a:prstGeom>
          <a:solidFill>
            <a:srgbClr val="06B6D4"/>
          </a:solidFill>
          <a:ln w="12700">
            <a:solidFill>
              <a:srgbClr val="06B6D4"/>
            </a:solidFill>
            <a:prstDash val="solid"/>
          </a:ln>
        </p:spPr>
      </p:sp>
      <p:sp>
        <p:nvSpPr>
          <p:cNvPr id="25" name="Text 23"/>
          <p:cNvSpPr/>
          <p:nvPr/>
        </p:nvSpPr>
        <p:spPr>
          <a:xfrm>
            <a:off x="8686800" y="3337560"/>
            <a:ext cx="347472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Visual debug graph</a:t>
            </a:r>
            <a:endParaRPr lang="en-US" sz="1600" dirty="0"/>
          </a:p>
        </p:txBody>
      </p:sp>
      <p:sp>
        <p:nvSpPr>
          <p:cNvPr id="26" name="Text 24"/>
          <p:cNvSpPr/>
          <p:nvPr/>
        </p:nvSpPr>
        <p:spPr>
          <a:xfrm>
            <a:off x="8686800" y="3794760"/>
            <a:ext cx="3474720" cy="16459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Step Functions renders the execution as a diagram. Failures show exactly which state failed and why.</a:t>
            </a:r>
            <a:endParaRPr lang="en-US" sz="1300" dirty="0"/>
          </a:p>
        </p:txBody>
      </p:sp>
      <p:sp>
        <p:nvSpPr>
          <p:cNvPr id="27" name="Text 25"/>
          <p:cNvSpPr/>
          <p:nvPr/>
        </p:nvSpPr>
        <p:spPr>
          <a:xfrm>
            <a:off x="640080" y="5852160"/>
            <a:ext cx="109728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Heavy intermediate data (PDFs, extracted text, chunks) lives in S3 — only S3 keys thread through state inputs to stay under the 256 KB limit.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Team contributions</a:t>
            </a:r>
            <a:endParaRPr lang="en-US" sz="3200" dirty="0"/>
          </a:p>
        </p:txBody>
      </p:sp>
      <p:sp>
        <p:nvSpPr>
          <p:cNvPr id="3" name="Text 1"/>
          <p:cNvSpPr/>
          <p:nvPr/>
        </p:nvSpPr>
        <p:spPr>
          <a:xfrm>
            <a:off x="640080" y="1097280"/>
            <a:ext cx="10972800" cy="365760"/>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Who did what across the platform</a:t>
            </a:r>
            <a:endParaRPr lang="en-US" sz="1400" dirty="0"/>
          </a:p>
        </p:txBody>
      </p:sp>
      <p:sp>
        <p:nvSpPr>
          <p:cNvPr id="4" name="Shape 2"/>
          <p:cNvSpPr/>
          <p:nvPr/>
        </p:nvSpPr>
        <p:spPr>
          <a:xfrm>
            <a:off x="640080" y="2075688"/>
            <a:ext cx="45720" cy="960120"/>
          </a:xfrm>
          <a:prstGeom prst="rect">
            <a:avLst/>
          </a:prstGeom>
          <a:solidFill>
            <a:srgbClr val="06B6D4"/>
          </a:solidFill>
          <a:ln w="12700">
            <a:solidFill>
              <a:srgbClr val="06B6D4"/>
            </a:solidFill>
            <a:prstDash val="solid"/>
          </a:ln>
        </p:spPr>
      </p:sp>
      <p:sp>
        <p:nvSpPr>
          <p:cNvPr id="5" name="Text 3"/>
          <p:cNvSpPr/>
          <p:nvPr/>
        </p:nvSpPr>
        <p:spPr>
          <a:xfrm>
            <a:off x="868680" y="2075688"/>
            <a:ext cx="10698480" cy="3200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Pranjal Mishra</a:t>
            </a:r>
            <a:pPr indent="0" marL="0">
              <a:buNone/>
            </a:pPr>
            <a:r>
              <a:rPr lang="en-US" sz="1300" dirty="0">
                <a:solidFill>
                  <a:srgbClr val="64748B"/>
                </a:solidFill>
                <a:latin typeface="Calibri" pitchFamily="34" charset="0"/>
                <a:ea typeface="Calibri" pitchFamily="34" charset="-122"/>
                <a:cs typeface="Calibri" pitchFamily="34" charset="-120"/>
              </a:rPr>
              <a:t>   ·   </a:t>
            </a:r>
            <a:pPr indent="0" marL="0">
              <a:buNone/>
            </a:pPr>
            <a:r>
              <a:rPr lang="en-US" sz="1300" i="1" dirty="0">
                <a:solidFill>
                  <a:srgbClr val="0891B2"/>
                </a:solidFill>
                <a:latin typeface="Calibri" pitchFamily="34" charset="0"/>
                <a:ea typeface="Calibri" pitchFamily="34" charset="-122"/>
                <a:cs typeface="Calibri" pitchFamily="34" charset="-120"/>
              </a:rPr>
              <a:t>Architecture &amp; Frontend Lead</a:t>
            </a:r>
            <a:endParaRPr lang="en-US" sz="1700" dirty="0"/>
          </a:p>
        </p:txBody>
      </p:sp>
      <p:sp>
        <p:nvSpPr>
          <p:cNvPr id="6" name="Text 4"/>
          <p:cNvSpPr/>
          <p:nvPr/>
        </p:nvSpPr>
        <p:spPr>
          <a:xfrm>
            <a:off x="868680" y="2441448"/>
            <a:ext cx="10698480" cy="5943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Architecture, CDK (all 6 stacks), Next.js frontend, Step Functions design, Bedrock integration, RAG chat, knowledge graph, ops</a:t>
            </a:r>
            <a:endParaRPr lang="en-US" sz="1300" dirty="0"/>
          </a:p>
        </p:txBody>
      </p:sp>
      <p:sp>
        <p:nvSpPr>
          <p:cNvPr id="7" name="Shape 5"/>
          <p:cNvSpPr/>
          <p:nvPr/>
        </p:nvSpPr>
        <p:spPr>
          <a:xfrm>
            <a:off x="640080" y="3328416"/>
            <a:ext cx="45720" cy="731520"/>
          </a:xfrm>
          <a:prstGeom prst="rect">
            <a:avLst/>
          </a:prstGeom>
          <a:solidFill>
            <a:srgbClr val="06B6D4"/>
          </a:solidFill>
          <a:ln w="12700">
            <a:solidFill>
              <a:srgbClr val="06B6D4"/>
            </a:solidFill>
            <a:prstDash val="solid"/>
          </a:ln>
        </p:spPr>
      </p:sp>
      <p:sp>
        <p:nvSpPr>
          <p:cNvPr id="8" name="Text 6"/>
          <p:cNvSpPr/>
          <p:nvPr/>
        </p:nvSpPr>
        <p:spPr>
          <a:xfrm>
            <a:off x="868680" y="3328416"/>
            <a:ext cx="10698480" cy="3200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Yang Zheng</a:t>
            </a:r>
            <a:pPr indent="0" marL="0">
              <a:buNone/>
            </a:pPr>
            <a:r>
              <a:rPr lang="en-US" sz="1300" dirty="0">
                <a:solidFill>
                  <a:srgbClr val="64748B"/>
                </a:solidFill>
                <a:latin typeface="Calibri" pitchFamily="34" charset="0"/>
                <a:ea typeface="Calibri" pitchFamily="34" charset="-122"/>
                <a:cs typeface="Calibri" pitchFamily="34" charset="-120"/>
              </a:rPr>
              <a:t>   ·   </a:t>
            </a:r>
            <a:pPr indent="0" marL="0">
              <a:buNone/>
            </a:pPr>
            <a:r>
              <a:rPr lang="en-US" sz="1300" i="1" dirty="0">
                <a:solidFill>
                  <a:srgbClr val="0891B2"/>
                </a:solidFill>
                <a:latin typeface="Calibri" pitchFamily="34" charset="0"/>
                <a:ea typeface="Calibri" pitchFamily="34" charset="-122"/>
                <a:cs typeface="Calibri" pitchFamily="34" charset="-120"/>
              </a:rPr>
              <a:t>Search Service</a:t>
            </a:r>
            <a:endParaRPr lang="en-US" sz="1700" dirty="0"/>
          </a:p>
        </p:txBody>
      </p:sp>
      <p:sp>
        <p:nvSpPr>
          <p:cNvPr id="9" name="Text 7"/>
          <p:cNvSpPr/>
          <p:nvPr/>
        </p:nvSpPr>
        <p:spPr>
          <a:xfrm>
            <a:off x="868680" y="3694176"/>
            <a:ext cx="10698480" cy="3657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searchFn, arXiv API client, Atom XML parser, structured error handling, 14 vitest unit tests</a:t>
            </a:r>
            <a:endParaRPr lang="en-US" sz="1300" dirty="0"/>
          </a:p>
        </p:txBody>
      </p:sp>
      <p:sp>
        <p:nvSpPr>
          <p:cNvPr id="10" name="Shape 8"/>
          <p:cNvSpPr/>
          <p:nvPr/>
        </p:nvSpPr>
        <p:spPr>
          <a:xfrm>
            <a:off x="640080" y="4352544"/>
            <a:ext cx="45720" cy="731520"/>
          </a:xfrm>
          <a:prstGeom prst="rect">
            <a:avLst/>
          </a:prstGeom>
          <a:solidFill>
            <a:srgbClr val="06B6D4"/>
          </a:solidFill>
          <a:ln w="12700">
            <a:solidFill>
              <a:srgbClr val="06B6D4"/>
            </a:solidFill>
            <a:prstDash val="solid"/>
          </a:ln>
        </p:spPr>
      </p:sp>
      <p:sp>
        <p:nvSpPr>
          <p:cNvPr id="11" name="Text 9"/>
          <p:cNvSpPr/>
          <p:nvPr/>
        </p:nvSpPr>
        <p:spPr>
          <a:xfrm>
            <a:off x="868680" y="4352544"/>
            <a:ext cx="10698480" cy="3200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Shreyas Sankpal</a:t>
            </a:r>
            <a:pPr indent="0" marL="0">
              <a:buNone/>
            </a:pPr>
            <a:r>
              <a:rPr lang="en-US" sz="1300" dirty="0">
                <a:solidFill>
                  <a:srgbClr val="64748B"/>
                </a:solidFill>
                <a:latin typeface="Calibri" pitchFamily="34" charset="0"/>
                <a:ea typeface="Calibri" pitchFamily="34" charset="-122"/>
                <a:cs typeface="Calibri" pitchFamily="34" charset="-120"/>
              </a:rPr>
              <a:t>   ·   </a:t>
            </a:r>
            <a:pPr indent="0" marL="0">
              <a:buNone/>
            </a:pPr>
            <a:r>
              <a:rPr lang="en-US" sz="1300" i="1" dirty="0">
                <a:solidFill>
                  <a:srgbClr val="0891B2"/>
                </a:solidFill>
                <a:latin typeface="Calibri" pitchFamily="34" charset="0"/>
                <a:ea typeface="Calibri" pitchFamily="34" charset="-122"/>
                <a:cs typeface="Calibri" pitchFamily="34" charset="-120"/>
              </a:rPr>
              <a:t>Pipeline</a:t>
            </a:r>
            <a:endParaRPr lang="en-US" sz="1700" dirty="0"/>
          </a:p>
        </p:txBody>
      </p:sp>
      <p:sp>
        <p:nvSpPr>
          <p:cNvPr id="12" name="Text 10"/>
          <p:cNvSpPr/>
          <p:nvPr/>
        </p:nvSpPr>
        <p:spPr>
          <a:xfrm>
            <a:off x="868680" y="4718304"/>
            <a:ext cx="10698480" cy="3657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Pipeline &amp; orchestration</a:t>
            </a:r>
            <a:endParaRPr lang="en-US" sz="1300" dirty="0"/>
          </a:p>
        </p:txBody>
      </p:sp>
      <p:sp>
        <p:nvSpPr>
          <p:cNvPr id="13" name="Shape 11"/>
          <p:cNvSpPr/>
          <p:nvPr/>
        </p:nvSpPr>
        <p:spPr>
          <a:xfrm>
            <a:off x="640080" y="5376672"/>
            <a:ext cx="45720" cy="731520"/>
          </a:xfrm>
          <a:prstGeom prst="rect">
            <a:avLst/>
          </a:prstGeom>
          <a:solidFill>
            <a:srgbClr val="06B6D4"/>
          </a:solidFill>
          <a:ln w="12700">
            <a:solidFill>
              <a:srgbClr val="06B6D4"/>
            </a:solidFill>
            <a:prstDash val="solid"/>
          </a:ln>
        </p:spPr>
      </p:sp>
      <p:sp>
        <p:nvSpPr>
          <p:cNvPr id="14" name="Text 12"/>
          <p:cNvSpPr/>
          <p:nvPr/>
        </p:nvSpPr>
        <p:spPr>
          <a:xfrm>
            <a:off x="868680" y="5376672"/>
            <a:ext cx="10698480" cy="320040"/>
          </a:xfrm>
          <a:prstGeom prst="rect">
            <a:avLst/>
          </a:prstGeom>
          <a:noFill/>
          <a:ln/>
        </p:spPr>
        <p:txBody>
          <a:bodyPr wrap="square" lIns="0" tIns="0" rIns="0" bIns="0"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Kerry Huang</a:t>
            </a:r>
            <a:pPr indent="0" marL="0">
              <a:buNone/>
            </a:pPr>
            <a:r>
              <a:rPr lang="en-US" sz="1300" dirty="0">
                <a:solidFill>
                  <a:srgbClr val="64748B"/>
                </a:solidFill>
                <a:latin typeface="Calibri" pitchFamily="34" charset="0"/>
                <a:ea typeface="Calibri" pitchFamily="34" charset="-122"/>
                <a:cs typeface="Calibri" pitchFamily="34" charset="-120"/>
              </a:rPr>
              <a:t>   ·   </a:t>
            </a:r>
            <a:pPr indent="0" marL="0">
              <a:buNone/>
            </a:pPr>
            <a:r>
              <a:rPr lang="en-US" sz="1300" i="1" dirty="0">
                <a:solidFill>
                  <a:srgbClr val="0891B2"/>
                </a:solidFill>
                <a:latin typeface="Calibri" pitchFamily="34" charset="0"/>
                <a:ea typeface="Calibri" pitchFamily="34" charset="-122"/>
                <a:cs typeface="Calibri" pitchFamily="34" charset="-120"/>
              </a:rPr>
              <a:t>Auth &amp; API</a:t>
            </a:r>
            <a:endParaRPr lang="en-US" sz="1700" dirty="0"/>
          </a:p>
        </p:txBody>
      </p:sp>
      <p:sp>
        <p:nvSpPr>
          <p:cNvPr id="15" name="Text 13"/>
          <p:cNvSpPr/>
          <p:nvPr/>
        </p:nvSpPr>
        <p:spPr>
          <a:xfrm>
            <a:off x="868680" y="5742432"/>
            <a:ext cx="10698480" cy="3657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Auth &amp; API</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What it produces</a:t>
            </a:r>
            <a:endParaRPr lang="en-US" sz="3200" dirty="0"/>
          </a:p>
        </p:txBody>
      </p:sp>
      <p:sp>
        <p:nvSpPr>
          <p:cNvPr id="3" name="Text 1"/>
          <p:cNvSpPr/>
          <p:nvPr/>
        </p:nvSpPr>
        <p:spPr>
          <a:xfrm>
            <a:off x="640080" y="1097280"/>
            <a:ext cx="10972800" cy="365760"/>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Numbers from CloudWatch and DynamoDB on the live system</a:t>
            </a:r>
            <a:endParaRPr lang="en-US" sz="1400" dirty="0"/>
          </a:p>
        </p:txBody>
      </p:sp>
      <p:sp>
        <p:nvSpPr>
          <p:cNvPr id="4" name="Shape 2"/>
          <p:cNvSpPr/>
          <p:nvPr/>
        </p:nvSpPr>
        <p:spPr>
          <a:xfrm>
            <a:off x="640080" y="1828800"/>
            <a:ext cx="2697480" cy="2011680"/>
          </a:xfrm>
          <a:prstGeom prst="rect">
            <a:avLst/>
          </a:prstGeom>
          <a:solidFill>
            <a:srgbClr val="F8FAFC"/>
          </a:solidFill>
          <a:ln w="12700">
            <a:solidFill>
              <a:srgbClr val="E2E8F0"/>
            </a:solidFill>
            <a:prstDash val="solid"/>
          </a:ln>
        </p:spPr>
      </p:sp>
      <p:sp>
        <p:nvSpPr>
          <p:cNvPr id="5" name="Shape 3"/>
          <p:cNvSpPr/>
          <p:nvPr/>
        </p:nvSpPr>
        <p:spPr>
          <a:xfrm>
            <a:off x="640080" y="1828800"/>
            <a:ext cx="2697480" cy="73152"/>
          </a:xfrm>
          <a:prstGeom prst="rect">
            <a:avLst/>
          </a:prstGeom>
          <a:solidFill>
            <a:srgbClr val="06B6D4"/>
          </a:solidFill>
          <a:ln w="12700">
            <a:solidFill>
              <a:srgbClr val="06B6D4"/>
            </a:solidFill>
            <a:prstDash val="solid"/>
          </a:ln>
        </p:spPr>
      </p:sp>
      <p:sp>
        <p:nvSpPr>
          <p:cNvPr id="6" name="Text 4"/>
          <p:cNvSpPr/>
          <p:nvPr/>
        </p:nvSpPr>
        <p:spPr>
          <a:xfrm>
            <a:off x="640080" y="2286000"/>
            <a:ext cx="2697480" cy="822960"/>
          </a:xfrm>
          <a:prstGeom prst="rect">
            <a:avLst/>
          </a:prstGeom>
          <a:noFill/>
          <a:ln/>
        </p:spPr>
        <p:txBody>
          <a:bodyPr wrap="square" lIns="0" tIns="0" rIns="0" bIns="0" rtlCol="0" anchor="ctr"/>
          <a:lstStyle/>
          <a:p>
            <a:pPr algn="ctr" indent="0" marL="0">
              <a:buNone/>
            </a:pPr>
            <a:r>
              <a:rPr lang="en-US" sz="3800" b="1" dirty="0">
                <a:solidFill>
                  <a:srgbClr val="0F172A"/>
                </a:solidFill>
                <a:latin typeface="Calibri" pitchFamily="34" charset="0"/>
                <a:ea typeface="Calibri" pitchFamily="34" charset="-122"/>
                <a:cs typeface="Calibri" pitchFamily="34" charset="-120"/>
              </a:rPr>
              <a:t>27–50s</a:t>
            </a:r>
            <a:endParaRPr lang="en-US" sz="3800" dirty="0"/>
          </a:p>
        </p:txBody>
      </p:sp>
      <p:sp>
        <p:nvSpPr>
          <p:cNvPr id="7" name="Text 5"/>
          <p:cNvSpPr/>
          <p:nvPr/>
        </p:nvSpPr>
        <p:spPr>
          <a:xfrm>
            <a:off x="822960" y="3154680"/>
            <a:ext cx="2331720" cy="64008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end-to-end summary on a real arXiv paper</a:t>
            </a:r>
            <a:endParaRPr lang="en-US" sz="1200" dirty="0"/>
          </a:p>
        </p:txBody>
      </p:sp>
      <p:sp>
        <p:nvSpPr>
          <p:cNvPr id="8" name="Shape 6"/>
          <p:cNvSpPr/>
          <p:nvPr/>
        </p:nvSpPr>
        <p:spPr>
          <a:xfrm>
            <a:off x="3502152" y="1828800"/>
            <a:ext cx="2697480" cy="2011680"/>
          </a:xfrm>
          <a:prstGeom prst="rect">
            <a:avLst/>
          </a:prstGeom>
          <a:solidFill>
            <a:srgbClr val="F8FAFC"/>
          </a:solidFill>
          <a:ln w="12700">
            <a:solidFill>
              <a:srgbClr val="E2E8F0"/>
            </a:solidFill>
            <a:prstDash val="solid"/>
          </a:ln>
        </p:spPr>
      </p:sp>
      <p:sp>
        <p:nvSpPr>
          <p:cNvPr id="9" name="Shape 7"/>
          <p:cNvSpPr/>
          <p:nvPr/>
        </p:nvSpPr>
        <p:spPr>
          <a:xfrm>
            <a:off x="3502152" y="1828800"/>
            <a:ext cx="2697480" cy="73152"/>
          </a:xfrm>
          <a:prstGeom prst="rect">
            <a:avLst/>
          </a:prstGeom>
          <a:solidFill>
            <a:srgbClr val="06B6D4"/>
          </a:solidFill>
          <a:ln w="12700">
            <a:solidFill>
              <a:srgbClr val="06B6D4"/>
            </a:solidFill>
            <a:prstDash val="solid"/>
          </a:ln>
        </p:spPr>
      </p:sp>
      <p:sp>
        <p:nvSpPr>
          <p:cNvPr id="10" name="Text 8"/>
          <p:cNvSpPr/>
          <p:nvPr/>
        </p:nvSpPr>
        <p:spPr>
          <a:xfrm>
            <a:off x="3502152" y="2286000"/>
            <a:ext cx="2697480" cy="822960"/>
          </a:xfrm>
          <a:prstGeom prst="rect">
            <a:avLst/>
          </a:prstGeom>
          <a:noFill/>
          <a:ln/>
        </p:spPr>
        <p:txBody>
          <a:bodyPr wrap="square" lIns="0" tIns="0" rIns="0" bIns="0" rtlCol="0" anchor="ctr"/>
          <a:lstStyle/>
          <a:p>
            <a:pPr algn="ctr" indent="0" marL="0">
              <a:buNone/>
            </a:pPr>
            <a:r>
              <a:rPr lang="en-US" sz="3800" b="1" dirty="0">
                <a:solidFill>
                  <a:srgbClr val="0F172A"/>
                </a:solidFill>
                <a:latin typeface="Calibri" pitchFamily="34" charset="0"/>
                <a:ea typeface="Calibri" pitchFamily="34" charset="-122"/>
                <a:cs typeface="Calibri" pitchFamily="34" charset="-120"/>
              </a:rPr>
              <a:t>$0.20</a:t>
            </a:r>
            <a:endParaRPr lang="en-US" sz="3800" dirty="0"/>
          </a:p>
        </p:txBody>
      </p:sp>
      <p:sp>
        <p:nvSpPr>
          <p:cNvPr id="11" name="Text 9"/>
          <p:cNvSpPr/>
          <p:nvPr/>
        </p:nvSpPr>
        <p:spPr>
          <a:xfrm>
            <a:off x="3685032" y="3154680"/>
            <a:ext cx="2331720" cy="64008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marginal cost per paper (Bedrock tokens)</a:t>
            </a:r>
            <a:endParaRPr lang="en-US" sz="1200" dirty="0"/>
          </a:p>
        </p:txBody>
      </p:sp>
      <p:sp>
        <p:nvSpPr>
          <p:cNvPr id="12" name="Shape 10"/>
          <p:cNvSpPr/>
          <p:nvPr/>
        </p:nvSpPr>
        <p:spPr>
          <a:xfrm>
            <a:off x="6364224" y="1828800"/>
            <a:ext cx="2697480" cy="2011680"/>
          </a:xfrm>
          <a:prstGeom prst="rect">
            <a:avLst/>
          </a:prstGeom>
          <a:solidFill>
            <a:srgbClr val="F8FAFC"/>
          </a:solidFill>
          <a:ln w="12700">
            <a:solidFill>
              <a:srgbClr val="E2E8F0"/>
            </a:solidFill>
            <a:prstDash val="solid"/>
          </a:ln>
        </p:spPr>
      </p:sp>
      <p:sp>
        <p:nvSpPr>
          <p:cNvPr id="13" name="Shape 11"/>
          <p:cNvSpPr/>
          <p:nvPr/>
        </p:nvSpPr>
        <p:spPr>
          <a:xfrm>
            <a:off x="6364224" y="1828800"/>
            <a:ext cx="2697480" cy="73152"/>
          </a:xfrm>
          <a:prstGeom prst="rect">
            <a:avLst/>
          </a:prstGeom>
          <a:solidFill>
            <a:srgbClr val="06B6D4"/>
          </a:solidFill>
          <a:ln w="12700">
            <a:solidFill>
              <a:srgbClr val="06B6D4"/>
            </a:solidFill>
            <a:prstDash val="solid"/>
          </a:ln>
        </p:spPr>
      </p:sp>
      <p:sp>
        <p:nvSpPr>
          <p:cNvPr id="14" name="Text 12"/>
          <p:cNvSpPr/>
          <p:nvPr/>
        </p:nvSpPr>
        <p:spPr>
          <a:xfrm>
            <a:off x="6364224" y="2286000"/>
            <a:ext cx="2697480" cy="822960"/>
          </a:xfrm>
          <a:prstGeom prst="rect">
            <a:avLst/>
          </a:prstGeom>
          <a:noFill/>
          <a:ln/>
        </p:spPr>
        <p:txBody>
          <a:bodyPr wrap="square" lIns="0" tIns="0" rIns="0" bIns="0" rtlCol="0" anchor="ctr"/>
          <a:lstStyle/>
          <a:p>
            <a:pPr algn="ctr" indent="0" marL="0">
              <a:buNone/>
            </a:pPr>
            <a:r>
              <a:rPr lang="en-US" sz="3800" b="1" dirty="0">
                <a:solidFill>
                  <a:srgbClr val="0F172A"/>
                </a:solidFill>
                <a:latin typeface="Calibri" pitchFamily="34" charset="0"/>
                <a:ea typeface="Calibri" pitchFamily="34" charset="-122"/>
                <a:cs typeface="Calibri" pitchFamily="34" charset="-120"/>
              </a:rPr>
              <a:t>$0.00</a:t>
            </a:r>
            <a:endParaRPr lang="en-US" sz="3800" dirty="0"/>
          </a:p>
        </p:txBody>
      </p:sp>
      <p:sp>
        <p:nvSpPr>
          <p:cNvPr id="15" name="Text 13"/>
          <p:cNvSpPr/>
          <p:nvPr/>
        </p:nvSpPr>
        <p:spPr>
          <a:xfrm>
            <a:off x="6547104" y="3154680"/>
            <a:ext cx="2331720" cy="64008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monthly cost when no traffic served</a:t>
            </a:r>
            <a:endParaRPr lang="en-US" sz="1200" dirty="0"/>
          </a:p>
        </p:txBody>
      </p:sp>
      <p:sp>
        <p:nvSpPr>
          <p:cNvPr id="16" name="Shape 14"/>
          <p:cNvSpPr/>
          <p:nvPr/>
        </p:nvSpPr>
        <p:spPr>
          <a:xfrm>
            <a:off x="9226296" y="1828800"/>
            <a:ext cx="2697480" cy="2011680"/>
          </a:xfrm>
          <a:prstGeom prst="rect">
            <a:avLst/>
          </a:prstGeom>
          <a:solidFill>
            <a:srgbClr val="F8FAFC"/>
          </a:solidFill>
          <a:ln w="12700">
            <a:solidFill>
              <a:srgbClr val="E2E8F0"/>
            </a:solidFill>
            <a:prstDash val="solid"/>
          </a:ln>
        </p:spPr>
      </p:sp>
      <p:sp>
        <p:nvSpPr>
          <p:cNvPr id="17" name="Shape 15"/>
          <p:cNvSpPr/>
          <p:nvPr/>
        </p:nvSpPr>
        <p:spPr>
          <a:xfrm>
            <a:off x="9226296" y="1828800"/>
            <a:ext cx="2697480" cy="73152"/>
          </a:xfrm>
          <a:prstGeom prst="rect">
            <a:avLst/>
          </a:prstGeom>
          <a:solidFill>
            <a:srgbClr val="06B6D4"/>
          </a:solidFill>
          <a:ln w="12700">
            <a:solidFill>
              <a:srgbClr val="06B6D4"/>
            </a:solidFill>
            <a:prstDash val="solid"/>
          </a:ln>
        </p:spPr>
      </p:sp>
      <p:sp>
        <p:nvSpPr>
          <p:cNvPr id="18" name="Text 16"/>
          <p:cNvSpPr/>
          <p:nvPr/>
        </p:nvSpPr>
        <p:spPr>
          <a:xfrm>
            <a:off x="9226296" y="2286000"/>
            <a:ext cx="2697480" cy="822960"/>
          </a:xfrm>
          <a:prstGeom prst="rect">
            <a:avLst/>
          </a:prstGeom>
          <a:noFill/>
          <a:ln/>
        </p:spPr>
        <p:txBody>
          <a:bodyPr wrap="square" lIns="0" tIns="0" rIns="0" bIns="0" rtlCol="0" anchor="ctr"/>
          <a:lstStyle/>
          <a:p>
            <a:pPr algn="ctr" indent="0" marL="0">
              <a:buNone/>
            </a:pPr>
            <a:r>
              <a:rPr lang="en-US" sz="3800" b="1" dirty="0">
                <a:solidFill>
                  <a:srgbClr val="0F172A"/>
                </a:solidFill>
                <a:latin typeface="Calibri" pitchFamily="34" charset="0"/>
                <a:ea typeface="Calibri" pitchFamily="34" charset="-122"/>
                <a:cs typeface="Calibri" pitchFamily="34" charset="-120"/>
              </a:rPr>
              <a:t>0</a:t>
            </a:r>
            <a:endParaRPr lang="en-US" sz="3800" dirty="0"/>
          </a:p>
        </p:txBody>
      </p:sp>
      <p:sp>
        <p:nvSpPr>
          <p:cNvPr id="19" name="Text 17"/>
          <p:cNvSpPr/>
          <p:nvPr/>
        </p:nvSpPr>
        <p:spPr>
          <a:xfrm>
            <a:off x="9409176" y="3154680"/>
            <a:ext cx="2331720" cy="640080"/>
          </a:xfrm>
          <a:prstGeom prst="rect">
            <a:avLst/>
          </a:prstGeom>
          <a:noFill/>
          <a:ln/>
        </p:spPr>
        <p:txBody>
          <a:bodyPr wrap="square" lIns="0" tIns="0" rIns="0" bIns="0" rtlCol="0" anchor="ctr"/>
          <a:lstStyle/>
          <a:p>
            <a:pPr algn="ctr" indent="0" marL="0">
              <a:buNone/>
            </a:pPr>
            <a:r>
              <a:rPr lang="en-US" sz="1200" dirty="0">
                <a:solidFill>
                  <a:srgbClr val="334155"/>
                </a:solidFill>
                <a:latin typeface="Calibri" pitchFamily="34" charset="0"/>
                <a:ea typeface="Calibri" pitchFamily="34" charset="-122"/>
                <a:cs typeface="Calibri" pitchFamily="34" charset="-120"/>
              </a:rPr>
              <a:t>messages in the dead-letter queue, ever</a:t>
            </a:r>
            <a:endParaRPr lang="en-US" sz="1200" dirty="0"/>
          </a:p>
        </p:txBody>
      </p:sp>
      <p:sp>
        <p:nvSpPr>
          <p:cNvPr id="20" name="Text 18"/>
          <p:cNvSpPr/>
          <p:nvPr/>
        </p:nvSpPr>
        <p:spPr>
          <a:xfrm>
            <a:off x="640080" y="4206240"/>
            <a:ext cx="109728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Live at d24irdkbe9jj2b.cloudfront.net — verified end-to-end</a:t>
            </a:r>
            <a:endParaRPr lang="en-US" sz="1600" dirty="0"/>
          </a:p>
        </p:txBody>
      </p:sp>
      <p:sp>
        <p:nvSpPr>
          <p:cNvPr id="21" name="Text 19"/>
          <p:cNvSpPr/>
          <p:nvPr/>
        </p:nvSpPr>
        <p:spPr>
          <a:xfrm>
            <a:off x="640080" y="4709160"/>
            <a:ext cx="274320" cy="32004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914400" y="4709160"/>
            <a:ext cx="10515600" cy="3200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Email signup with Cognito email verification → SRP login → JWT-protected API</a:t>
            </a:r>
            <a:endParaRPr lang="en-US" sz="1300" dirty="0"/>
          </a:p>
        </p:txBody>
      </p:sp>
      <p:sp>
        <p:nvSpPr>
          <p:cNvPr id="23" name="Text 21"/>
          <p:cNvSpPr/>
          <p:nvPr/>
        </p:nvSpPr>
        <p:spPr>
          <a:xfrm>
            <a:off x="640080" y="5074920"/>
            <a:ext cx="274320" cy="32004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914400" y="5074920"/>
            <a:ext cx="10515600" cy="3200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Search on arXiv + Semantic Scholar, dedup by arxivId/DOI/title, paper card UI</a:t>
            </a:r>
            <a:endParaRPr lang="en-US" sz="1300" dirty="0"/>
          </a:p>
        </p:txBody>
      </p:sp>
      <p:sp>
        <p:nvSpPr>
          <p:cNvPr id="25" name="Text 23"/>
          <p:cNvSpPr/>
          <p:nvPr/>
        </p:nvSpPr>
        <p:spPr>
          <a:xfrm>
            <a:off x="640080" y="5440680"/>
            <a:ext cx="274320" cy="32004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914400" y="5440680"/>
            <a:ext cx="10515600" cy="3200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Submit → 202 with jobId → poll until done → 5-section summary in ~30 s</a:t>
            </a:r>
            <a:endParaRPr lang="en-US" sz="1300" dirty="0"/>
          </a:p>
        </p:txBody>
      </p:sp>
      <p:sp>
        <p:nvSpPr>
          <p:cNvPr id="27" name="Text 25"/>
          <p:cNvSpPr/>
          <p:nvPr/>
        </p:nvSpPr>
        <p:spPr>
          <a:xfrm>
            <a:off x="640080" y="5806440"/>
            <a:ext cx="274320" cy="32004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914400" y="5806440"/>
            <a:ext cx="10515600" cy="3200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Talk-to-PDF chat with cited chunks · related papers · React Flow knowledge graph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0080"/>
            <a:ext cx="10972800" cy="365760"/>
          </a:xfrm>
          <a:prstGeom prst="rect">
            <a:avLst/>
          </a:prstGeom>
          <a:noFill/>
          <a:ln/>
        </p:spPr>
        <p:txBody>
          <a:bodyPr wrap="square" lIns="0" tIns="0" rIns="0" bIns="0" rtlCol="0" anchor="ctr"/>
          <a:lstStyle/>
          <a:p>
            <a:pPr indent="0" marL="0">
              <a:buNone/>
            </a:pPr>
            <a:r>
              <a:rPr lang="en-US" sz="1200" b="1" spc="400" kern="0" dirty="0">
                <a:solidFill>
                  <a:srgbClr val="06B6D4"/>
                </a:solidFill>
                <a:latin typeface="Calibri" pitchFamily="34" charset="0"/>
                <a:ea typeface="Calibri" pitchFamily="34" charset="-122"/>
                <a:cs typeface="Calibri" pitchFamily="34" charset="-120"/>
              </a:rPr>
              <a:t>WHAT WE LEARNED</a:t>
            </a:r>
            <a:endParaRPr lang="en-US" sz="1200" dirty="0"/>
          </a:p>
        </p:txBody>
      </p:sp>
      <p:sp>
        <p:nvSpPr>
          <p:cNvPr id="3" name="Text 1"/>
          <p:cNvSpPr/>
          <p:nvPr/>
        </p:nvSpPr>
        <p:spPr>
          <a:xfrm>
            <a:off x="640080" y="1097280"/>
            <a:ext cx="10972800" cy="16459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 small piece of well-designed state</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supports a broad range of features.</a:t>
            </a:r>
            <a:endParaRPr lang="en-US" sz="3600" dirty="0"/>
          </a:p>
        </p:txBody>
      </p:sp>
      <p:sp>
        <p:nvSpPr>
          <p:cNvPr id="4" name="Text 2"/>
          <p:cNvSpPr/>
          <p:nvPr/>
        </p:nvSpPr>
        <p:spPr>
          <a:xfrm>
            <a:off x="640080" y="2834640"/>
            <a:ext cx="10972800" cy="9144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Chunk vectors stored at pipeline time power three downstream features for free: retrieval-grounded chat, related-papers ranking, and the knowledge graph. The same Lambda fleet, the same DynamoDB table, the same Bedrock IAM role.</a:t>
            </a:r>
            <a:endParaRPr lang="en-US" sz="1400" dirty="0"/>
          </a:p>
        </p:txBody>
      </p:sp>
      <p:sp>
        <p:nvSpPr>
          <p:cNvPr id="5" name="Text 3"/>
          <p:cNvSpPr/>
          <p:nvPr/>
        </p:nvSpPr>
        <p:spPr>
          <a:xfrm>
            <a:off x="640080" y="3931920"/>
            <a:ext cx="5394960" cy="274320"/>
          </a:xfrm>
          <a:prstGeom prst="rect">
            <a:avLst/>
          </a:prstGeom>
          <a:noFill/>
          <a:ln/>
        </p:spPr>
        <p:txBody>
          <a:bodyPr wrap="square" lIns="0" tIns="0" rIns="0" bIns="0" rtlCol="0" anchor="ctr"/>
          <a:lstStyle/>
          <a:p>
            <a:pPr indent="0" marL="0">
              <a:buNone/>
            </a:pPr>
            <a:r>
              <a:rPr lang="en-US" sz="1100" b="1" spc="300" kern="0" dirty="0">
                <a:solidFill>
                  <a:srgbClr val="06B6D4"/>
                </a:solidFill>
                <a:latin typeface="Calibri" pitchFamily="34" charset="0"/>
                <a:ea typeface="Calibri" pitchFamily="34" charset="-122"/>
                <a:cs typeface="Calibri" pitchFamily="34" charset="-120"/>
              </a:rPr>
              <a:t>SHIPPED</a:t>
            </a:r>
            <a:endParaRPr lang="en-US" sz="1100" dirty="0"/>
          </a:p>
        </p:txBody>
      </p:sp>
      <p:sp>
        <p:nvSpPr>
          <p:cNvPr id="6" name="Text 4"/>
          <p:cNvSpPr/>
          <p:nvPr/>
        </p:nvSpPr>
        <p:spPr>
          <a:xfrm>
            <a:off x="640080" y="4297680"/>
            <a:ext cx="5394960" cy="2194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5-section structured summaries</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Multi-source search + dedup</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Talk-to-PDF retrieval chat</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Knowledge graph + related papers</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Per-user quota + content-hash dedup</a:t>
            </a:r>
            <a:endParaRPr lang="en-US" sz="1200" dirty="0"/>
          </a:p>
          <a:p>
            <a:pPr marL="342900" indent="-3429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CloudWatch dashboard, 4 alarms, X-Ray, Budgets</a:t>
            </a:r>
            <a:endParaRPr lang="en-US" sz="1200" dirty="0"/>
          </a:p>
        </p:txBody>
      </p:sp>
      <p:sp>
        <p:nvSpPr>
          <p:cNvPr id="7" name="Text 5"/>
          <p:cNvSpPr/>
          <p:nvPr/>
        </p:nvSpPr>
        <p:spPr>
          <a:xfrm>
            <a:off x="6492240" y="3931920"/>
            <a:ext cx="5394960" cy="274320"/>
          </a:xfrm>
          <a:prstGeom prst="rect">
            <a:avLst/>
          </a:prstGeom>
          <a:noFill/>
          <a:ln/>
        </p:spPr>
        <p:txBody>
          <a:bodyPr wrap="square" lIns="0" tIns="0" rIns="0" bIns="0" rtlCol="0" anchor="ctr"/>
          <a:lstStyle/>
          <a:p>
            <a:pPr indent="0" marL="0">
              <a:buNone/>
            </a:pPr>
            <a:r>
              <a:rPr lang="en-US" sz="1100" b="1" spc="300" kern="0" dirty="0">
                <a:solidFill>
                  <a:srgbClr val="94A3B8"/>
                </a:solidFill>
                <a:latin typeface="Calibri" pitchFamily="34" charset="0"/>
                <a:ea typeface="Calibri" pitchFamily="34" charset="-122"/>
                <a:cs typeface="Calibri" pitchFamily="34" charset="-120"/>
              </a:rPr>
              <a:t>NEXT</a:t>
            </a:r>
            <a:endParaRPr lang="en-US" sz="1100" dirty="0"/>
          </a:p>
        </p:txBody>
      </p:sp>
      <p:sp>
        <p:nvSpPr>
          <p:cNvPr id="8" name="Text 6"/>
          <p:cNvSpPr/>
          <p:nvPr/>
        </p:nvSpPr>
        <p:spPr>
          <a:xfrm>
            <a:off x="6492240" y="4297680"/>
            <a:ext cx="5394960" cy="2194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Side-by-side PDF reader (pdfjs-dist)</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Cross-paper comparison table</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Streaming chat via Lambda Function URLs</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Multi-region DR (DynamoDB global tables)</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AWS WAF in front of CloudFront + APIGW</a:t>
            </a:r>
            <a:endParaRPr lang="en-US" sz="1200" dirty="0"/>
          </a:p>
          <a:p>
            <a:pPr marL="342900" indent="-342900">
              <a:spcAft>
                <a:spcPts val="400"/>
              </a:spcAft>
              <a:buSzPct val="100000"/>
              <a:buChar char="○"/>
            </a:pPr>
            <a:r>
              <a:rPr lang="en-US" sz="1200" dirty="0">
                <a:solidFill>
                  <a:srgbClr val="94A3B8"/>
                </a:solidFill>
                <a:latin typeface="Calibri" pitchFamily="34" charset="0"/>
                <a:ea typeface="Calibri" pitchFamily="34" charset="-122"/>
                <a:cs typeface="Calibri" pitchFamily="34" charset="-120"/>
              </a:rPr>
              <a:t>Grobid on Fargate for richer extraction</a:t>
            </a:r>
            <a:endParaRPr lang="en-US" sz="1200" dirty="0"/>
          </a:p>
        </p:txBody>
      </p:sp>
      <p:sp>
        <p:nvSpPr>
          <p:cNvPr id="9" name="Text 7"/>
          <p:cNvSpPr/>
          <p:nvPr/>
        </p:nvSpPr>
        <p:spPr>
          <a:xfrm>
            <a:off x="640080" y="6355080"/>
            <a:ext cx="10972800" cy="274320"/>
          </a:xfrm>
          <a:prstGeom prst="rect">
            <a:avLst/>
          </a:prstGeom>
          <a:noFill/>
          <a:ln/>
        </p:spPr>
        <p:txBody>
          <a:bodyPr wrap="square" lIns="0" tIns="0" rIns="0" bIns="0" rtlCol="0" anchor="ctr"/>
          <a:lstStyle/>
          <a:p>
            <a:pPr indent="0" marL="0">
              <a:buNone/>
            </a:pPr>
            <a:r>
              <a:rPr lang="en-US" sz="1200" i="1" dirty="0">
                <a:solidFill>
                  <a:srgbClr val="06B6D4"/>
                </a:solidFill>
                <a:latin typeface="Calibri" pitchFamily="34" charset="0"/>
                <a:ea typeface="Calibri" pitchFamily="34" charset="-122"/>
                <a:cs typeface="Calibri" pitchFamily="34" charset="-120"/>
              </a:rPr>
              <a:t>Thanks — happy to take 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Paper Summarizer — Final Presentation</dc:title>
  <dc:subject>PptxGenJS Presentation</dc:subject>
  <dc:creator>Yang Zheng</dc:creator>
  <cp:lastModifiedBy>Yang Zheng</cp:lastModifiedBy>
  <cp:revision>1</cp:revision>
  <dcterms:created xsi:type="dcterms:W3CDTF">2026-05-07T19:41:39Z</dcterms:created>
  <dcterms:modified xsi:type="dcterms:W3CDTF">2026-05-07T19:41:39Z</dcterms:modified>
</cp:coreProperties>
</file>